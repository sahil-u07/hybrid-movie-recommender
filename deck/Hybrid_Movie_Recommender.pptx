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f20b27f-e16c-6c43-97d4-82d411a3ccc3}">
          <p14:sldIdLst>
            <p14:sldId id="256"/>
            <p14:sldId id="257"/>
          </p14:sldIdLst>
        </p14:section>
        <p14:section name="Method" id="{e24487cb-e4ce-18b9-9262-9ddd03c4835f}">
          <p14:sldIdLst>
            <p14:sldId id="258"/>
            <p14:sldId id="259"/>
            <p14:sldId id="260"/>
            <p14:sldId id="261"/>
          </p14:sldIdLst>
        </p14:section>
        <p14:section name="Results" id="{db5e2a1b-e2bb-9f01-0d54-c8c3e818ec4a}">
          <p14:sldIdLst>
            <p14:sldId id="262"/>
            <p14:sldId id="263"/>
            <p14:sldId id="264"/>
          </p14:sldIdLst>
        </p14:section>
        <p14:section name="Demo" id="{923fb1be-d1b3-6b48-2b7f-65b9a415deae}">
          <p14:sldIdLst>
            <p14:sldId id="265"/>
          </p14:sldIdLst>
        </p14:section>
        <p14:section name="Wrap-up" id="{642cb7a2-17bb-a04b-083a-b7999623fa83}">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NDCG@10</c:v>
                </c:pt>
              </c:strCache>
            </c:strRef>
          </c:tx>
          <c:spPr>
            <a:solidFill>
              <a:srgbClr val="8A8798"/>
            </a:solidFill>
            <a:effectLst/>
          </c:spPr>
          <c:invertIfNegative val="0"/>
          <c:dLbls>
            <c:numFmt formatCode="0.000" sourceLinked="0"/>
            <c:txPr>
              <a:bodyPr/>
              <a:lstStyle/>
              <a:p>
                <a:pPr>
                  <a:defRPr b="0" i="0" strike="noStrike" sz="1200" u="none">
                    <a:solidFill>
                      <a:srgbClr val="1B1A24"/>
                    </a:solidFill>
                    <a:latin typeface="+mn-lt"/>
                  </a:defRPr>
                </a:pPr>
              </a:p>
            </c:txPr>
            <c:showLegendKey val="0"/>
            <c:showVal val="1"/>
            <c:showCatName val="0"/>
            <c:showSerName val="0"/>
            <c:showPercent val="0"/>
            <c:showBubbleSize val="0"/>
            <c:showLeaderLines val="0"/>
          </c:dLbls>
          <c:dPt>
            <c:idx val="0"/>
            <c:invertIfNegative val="0"/>
            <c:bubble3D val="0"/>
            <c:spPr>
              <a:solidFill>
                <a:srgbClr val="8A8798"/>
              </a:solidFill>
              <a:effectLst/>
            </c:spPr>
          </c:dPt>
          <c:dPt>
            <c:idx val="1"/>
            <c:invertIfNegative val="0"/>
            <c:bubble3D val="0"/>
            <c:spPr>
              <a:solidFill>
                <a:srgbClr val="8A8798"/>
              </a:solidFill>
              <a:effectLst/>
            </c:spPr>
          </c:dPt>
          <c:dPt>
            <c:idx val="2"/>
            <c:invertIfNegative val="0"/>
            <c:bubble3D val="0"/>
            <c:spPr>
              <a:solidFill>
                <a:srgbClr val="8A8798"/>
              </a:solidFill>
              <a:effectLst/>
            </c:spPr>
          </c:dPt>
          <c:dPt>
            <c:idx val="3"/>
            <c:invertIfNegative val="0"/>
            <c:bubble3D val="0"/>
            <c:spPr>
              <a:solidFill>
                <a:srgbClr val="4F6D8F"/>
              </a:solidFill>
              <a:effectLst/>
            </c:spPr>
          </c:dPt>
          <c:dPt>
            <c:idx val="4"/>
            <c:invertIfNegative val="0"/>
            <c:bubble3D val="0"/>
            <c:spPr>
              <a:solidFill>
                <a:srgbClr val="F2B33D"/>
              </a:solidFill>
              <a:effectLst/>
            </c:spPr>
          </c:dPt>
          <c:dPt>
            <c:idx val="5"/>
            <c:invertIfNegative val="0"/>
            <c:bubble3D val="0"/>
            <c:spPr>
              <a:solidFill>
                <a:srgbClr val="8E2C48"/>
              </a:solidFill>
              <a:effectLst/>
            </c:spPr>
          </c:dPt>
          <c:dPt>
            <c:idx val="6"/>
            <c:invertIfNegative val="0"/>
            <c:bubble3D val="0"/>
            <c:spPr>
              <a:solidFill>
                <a:srgbClr val="D9A5B5"/>
              </a:solidFill>
              <a:effectLst/>
            </c:spPr>
          </c:dPt>
          <c:cat>
            <c:multiLvlStrRef>
              <c:f>Sheet1!$A$2:$A$8</c:f>
              <c:multiLvlStrCache>
                <c:ptCount val="7"/>
                <c:lvl>
                  <c:pt idx="0">
                    <c:v>Popularity only</c:v>
                  </c:pt>
                  <c:pt idx="1">
                    <c:v>Preference only</c:v>
                  </c:pt>
                  <c:pt idx="2">
                    <c:v>Content only</c:v>
                  </c:pt>
                  <c:pt idx="3">
                    <c:v>Collaborative only</c:v>
                  </c:pt>
                  <c:pt idx="4">
                    <c:v>Hybrid (spec weights)</c:v>
                  </c:pt>
                  <c:pt idx="5">
                    <c:v>Hybrid (tuned)</c:v>
                  </c:pt>
                  <c:pt idx="6">
                    <c:v>Hybrid (tuned) + MMR</c:v>
                  </c:pt>
                </c:lvl>
              </c:multiLvlStrCache>
            </c:multiLvlStrRef>
          </c:cat>
          <c:val>
            <c:numRef>
              <c:f>Sheet1!$B$2:$B$8</c:f>
              <c:numCache>
                <c:formatCode>General</c:formatCode>
                <c:ptCount val="7"/>
                <c:pt idx="0">
                  <c:v>0.0649181800247432</c:v>
                </c:pt>
                <c:pt idx="1">
                  <c:v>0.0137293591504415</c:v>
                </c:pt>
                <c:pt idx="2">
                  <c:v>0.0121641887814889</c:v>
                </c:pt>
                <c:pt idx="3">
                  <c:v>0.094456449083776</c:v>
                </c:pt>
                <c:pt idx="4">
                  <c:v>0.0521556224831108</c:v>
                </c:pt>
                <c:pt idx="5">
                  <c:v>0.0956166517506147</c:v>
                </c:pt>
                <c:pt idx="6">
                  <c:v>0.0872744088552644</c:v>
                </c:pt>
              </c:numCache>
            </c:numRef>
          </c:val>
        </c:ser>
        <c:dLbls>
          <c:numFmt formatCode="0.000" sourceLinked="0"/>
          <c:txPr>
            <a:bodyPr/>
            <a:lstStyle/>
            <a:p>
              <a:pPr>
                <a:defRPr b="0" i="0" strike="noStrike" sz="1200" u="none">
                  <a:solidFill>
                    <a:srgbClr val="1B1A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A24"/>
                </a:solidFill>
                <a:latin typeface="+mn-lt"/>
              </a:defRPr>
            </a:pPr>
            <a:endParaRPr lang="en-US"/>
          </a:p>
        </c:txPr>
        <c:crossAx val="2094734552"/>
        <c:crosses val="autoZero"/>
        <c:auto val="1"/>
        <c:lblAlgn val="ctr"/>
        <c:noMultiLvlLbl val="1"/>
      </c:catAx>
      <c:valAx>
        <c:axId val="2094734552"/>
        <c:scaling>
          <c:orientation val="minMax"/>
          <c:max val="0.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NDCG@10</c:v>
                </c:pt>
              </c:strCache>
            </c:strRef>
          </c:tx>
          <c:spPr>
            <a:solidFill>
              <a:srgbClr val="8A8798"/>
            </a:solidFill>
            <a:effectLst/>
          </c:spPr>
          <c:invertIfNegative val="0"/>
          <c:dLbls>
            <c:numFmt formatCode="0.000" sourceLinked="0"/>
            <c:txPr>
              <a:bodyPr/>
              <a:lstStyle/>
              <a:p>
                <a:pPr>
                  <a:defRPr b="0" i="0" strike="noStrike" sz="1200" u="none">
                    <a:solidFill>
                      <a:srgbClr val="1B1A24"/>
                    </a:solidFill>
                    <a:latin typeface="+mn-lt"/>
                  </a:defRPr>
                </a:pPr>
              </a:p>
            </c:txPr>
            <c:showLegendKey val="0"/>
            <c:showVal val="1"/>
            <c:showCatName val="0"/>
            <c:showSerName val="0"/>
            <c:showPercent val="0"/>
            <c:showBubbleSize val="0"/>
            <c:showLeaderLines val="0"/>
          </c:dLbls>
          <c:dPt>
            <c:idx val="0"/>
            <c:invertIfNegative val="0"/>
            <c:bubble3D val="0"/>
            <c:spPr>
              <a:solidFill>
                <a:srgbClr val="8A8798"/>
              </a:solidFill>
              <a:effectLst/>
            </c:spPr>
          </c:dPt>
          <c:dPt>
            <c:idx val="1"/>
            <c:invertIfNegative val="0"/>
            <c:bubble3D val="0"/>
            <c:spPr>
              <a:solidFill>
                <a:srgbClr val="8A8798"/>
              </a:solidFill>
              <a:effectLst/>
            </c:spPr>
          </c:dPt>
          <c:dPt>
            <c:idx val="2"/>
            <c:invertIfNegative val="0"/>
            <c:bubble3D val="0"/>
            <c:spPr>
              <a:solidFill>
                <a:srgbClr val="8A8798"/>
              </a:solidFill>
              <a:effectLst/>
            </c:spPr>
          </c:dPt>
          <c:dPt>
            <c:idx val="3"/>
            <c:invertIfNegative val="0"/>
            <c:bubble3D val="0"/>
            <c:spPr>
              <a:solidFill>
                <a:srgbClr val="F2B33D"/>
              </a:solidFill>
              <a:effectLst/>
            </c:spPr>
          </c:dPt>
          <c:dPt>
            <c:idx val="4"/>
            <c:invertIfNegative val="0"/>
            <c:bubble3D val="0"/>
            <c:spPr>
              <a:solidFill>
                <a:srgbClr val="8E2C48"/>
              </a:solidFill>
              <a:effectLst/>
            </c:spPr>
          </c:dPt>
          <c:dPt>
            <c:idx val="5"/>
            <c:invertIfNegative val="0"/>
            <c:bubble3D val="0"/>
            <c:spPr>
              <a:solidFill>
                <a:srgbClr val="D9A5B5"/>
              </a:solidFill>
              <a:effectLst/>
            </c:spPr>
          </c:dPt>
          <c:cat>
            <c:multiLvlStrRef>
              <c:f>Sheet1!$A$2:$A$7</c:f>
              <c:multiLvlStrCache>
                <c:ptCount val="6"/>
                <c:lvl>
                  <c:pt idx="0">
                    <c:v>Popularity only</c:v>
                  </c:pt>
                  <c:pt idx="1">
                    <c:v>Preference only</c:v>
                  </c:pt>
                  <c:pt idx="2">
                    <c:v>Content only</c:v>
                  </c:pt>
                  <c:pt idx="3">
                    <c:v>Hybrid (spec weights)</c:v>
                  </c:pt>
                  <c:pt idx="4">
                    <c:v>Hybrid (tuned)</c:v>
                  </c:pt>
                  <c:pt idx="5">
                    <c:v>Hybrid (tuned) + MMR</c:v>
                  </c:pt>
                </c:lvl>
              </c:multiLvlStrCache>
            </c:multiLvlStrRef>
          </c:cat>
          <c:val>
            <c:numRef>
              <c:f>Sheet1!$B$2:$B$7</c:f>
              <c:numCache>
                <c:formatCode>General</c:formatCode>
                <c:ptCount val="6"/>
                <c:pt idx="0">
                  <c:v>0.0643253547322085</c:v>
                </c:pt>
                <c:pt idx="1">
                  <c:v>0.011949178171193</c:v>
                </c:pt>
                <c:pt idx="2">
                  <c:v>0.0081822117475174</c:v>
                </c:pt>
                <c:pt idx="3">
                  <c:v>0.0341794008857401</c:v>
                </c:pt>
                <c:pt idx="4">
                  <c:v>0.0817451551833635</c:v>
                </c:pt>
                <c:pt idx="5">
                  <c:v>0.0807889232707834</c:v>
                </c:pt>
              </c:numCache>
            </c:numRef>
          </c:val>
        </c:ser>
        <c:dLbls>
          <c:numFmt formatCode="0.000" sourceLinked="0"/>
          <c:txPr>
            <a:bodyPr/>
            <a:lstStyle/>
            <a:p>
              <a:pPr>
                <a:defRPr b="0" i="0" strike="noStrike" sz="1200" u="none">
                  <a:solidFill>
                    <a:srgbClr val="1B1A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A24"/>
                </a:solidFill>
                <a:latin typeface="+mn-lt"/>
              </a:defRPr>
            </a:pPr>
            <a:endParaRPr lang="en-US"/>
          </a:p>
        </c:txPr>
        <c:crossAx val="2094734552"/>
        <c:crosses val="autoZero"/>
        <c:auto val="1"/>
        <c:lblAlgn val="ctr"/>
        <c:noMultiLvlLbl val="1"/>
      </c:catAx>
      <c:valAx>
        <c:axId val="2094734552"/>
        <c:scaling>
          <c:orientation val="minMax"/>
          <c:max val="0.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both team members and the project in one breath: a web app that recommends films, works for brand-new users, and explains every pick. Say that every number in this deck comes from an evaluation script in the repo that you can run live. Plan for about 15 minutes plus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drive the design. New users get generic lists. Almost no recommender says why it picked something. And big catalogs make choosing slow. Our answer is a short skippable quiz instead of a cold start, a reason on every card, and a dial that lets the user choose how adventurous the list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hybrid: each method fails alone. Content similarity needs liked films. Collaborative filtering needs many ratings and fails for new users, so its weight is zero in the cold stage. Popularity alone is the same list for everyone. Preference from the quiz covers a brand-new user. Blending lets whichever signal has data carry the ranking, and the weights shift as the user interacts.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we used the 2016 release of MovieLens small because the 2018 file was not reachable from our build machine. The format is identical so the code runs on either. Item statistics, similarity and the collaborative model are built from training ratings only, so there is no leakage from the test period. 585 users with enough history are evaluated, and 581 for the cold-start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stages left to right. Why diversity needs its own step: ranking by score alone returns ten near-copies of the top genre, because the highest scores cluster together. MMR picks each next film by its score minus its similarity to what is already in the row, so the list covers more ground. The dial changes lambda: lower lambda means more variety. Explanations are built only from the stored score breakdown, so a reason never names a signal that did not affect the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part of the method. With the spec weights the hybrid scored below plain popularity. We tuned weights on a validation split taken from the training data and kept the test set untouched until the end. The biggest change is a much larger collaborative weight. We first let quality grow without a limit and it hit 0.40, which gave a sci-fi fan Shawshank and Pulp Fiction. That broke the spec rule that popularity is a capped tiebreaker, so we capped it at 0.15 and re-tuned. The discovery weight in the table is the spec value; at run time the dial overrides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NDCG@10 asks whether the films the user later liked appear near the top of the first ten. A liked film at rank one is worth more than the same film at rank ten, and the score is divided by the best possible ordering so it runs from 0 to 1. The tuned hybrid beats popularity by about 47 percent, and the paired t-test over users is significant. It does not beat collaborative filtering alone on accuracy, it ties it. What the hybrid adds over collaborative filtering is the cold-start stage, the reasons and the diversity control. Be honest that the untuned spec weights lost to popularity.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simulates a new user who finishes the quiz: the model sees only their five best-rated films and the top three genres of those films. The warming stage handles it: preference and content cover the quiz answers while collaborative filtering uses the five films as anchors, and quality breaks ties. With no quiz at all the app falls back to popular, well-rated films. Evaluation hides every film the user rated in training, for every method, so the comparison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Diversity here is the average genre distance between the ten films in a list. Re-ranking with MMR raises it clearly for a small accuracy cost, which is why it is a separate stage and why the user controls it with the dial. One target from our spec was missed: catalog coverage is 13 percent against a 20 percent goal. Say this plainly. The untuned spec weights reached 24 percent coverage but at much lower accuracy, so there is a real trade-off between accuracy and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running app here. Skip or fill the quiz, show the four rows, open Why this? on a card to show the score breakdown, press Not for me and point out that the film disappears and the next results change straight away. Move the discovery dial to Surprise me and show that the list changes. If a TMDB key is set the cards show posters; without a key they show a plain title card, because we never guess a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and direct. We claim a clear improvement over popularity and over content similarity, a working cold-start path, explanations tied to the real score, and a user-controlled diversity dial. We do not claim to beat collaborative filtering on accuracy, and we missed the coverage target. The full product in the spec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viva questions. Why hybrid? Each single method fails somewhere: content needs liked films, collaborative needs ratings, popularity is identical for everyone. The stage-based weights let whichever signal has data lead. How is cold start handled? No input gives popular well-rated films; a quiz gives preference plus content similarity to the picked favourites; collaborative weight is zero in the cold stage and grows as ratings arrive. What does NDCG measure? How high the liked films appear in the top ten, with higher positions worth more, normalised by the best possible ordering. Why does diversity need its own step? Score ranking alone returns near-duplicates; MMR subtracts similarity to what is already chosen. Why did the spec weights lose? They were untuned starting values and gave too much weight to genre preference and content, which are weak predictors on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txBox="1"/>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Hybrid Movie Recommender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oster motif 1"/>
          <p:cNvSpPr/>
          <p:nvPr/>
        </p:nvSpPr>
        <p:spPr>
          <a:xfrm rot="-360000">
            <a:off x="5989320" y="1097280"/>
            <a:ext cx="1234440" cy="1856232"/>
          </a:xfrm>
          <a:prstGeom prst="roundRect">
            <a:avLst>
              <a:gd name="adj" fmla="val 7407"/>
            </a:avLst>
          </a:prstGeom>
          <a:solidFill>
            <a:schemeClr val="accent1"/>
          </a:solidFill>
          <a:ln/>
        </p:spPr>
      </p:sp>
      <p:sp>
        <p:nvSpPr>
          <p:cNvPr id="3" name="Poster motif 2"/>
          <p:cNvSpPr/>
          <p:nvPr/>
        </p:nvSpPr>
        <p:spPr>
          <a:xfrm rot="120000">
            <a:off x="6903720" y="1417320"/>
            <a:ext cx="1234440" cy="1856232"/>
          </a:xfrm>
          <a:prstGeom prst="roundRect">
            <a:avLst>
              <a:gd name="adj" fmla="val 7407"/>
            </a:avLst>
          </a:prstGeom>
          <a:solidFill>
            <a:schemeClr val="accent2">
              <a:alpha val="90000"/>
            </a:schemeClr>
          </a:solidFill>
          <a:ln/>
        </p:spPr>
      </p:sp>
      <p:sp>
        <p:nvSpPr>
          <p:cNvPr id="4" name="Poster motif 3"/>
          <p:cNvSpPr/>
          <p:nvPr/>
        </p:nvSpPr>
        <p:spPr>
          <a:xfrm rot="480000">
            <a:off x="7589520" y="1828800"/>
            <a:ext cx="1234440" cy="1856232"/>
          </a:xfrm>
          <a:prstGeom prst="roundRect">
            <a:avLst>
              <a:gd name="adj" fmla="val 7407"/>
            </a:avLst>
          </a:prstGeom>
          <a:solidFill>
            <a:schemeClr val="accent3">
              <a:alpha val="90000"/>
            </a:schemeClr>
          </a:solidFill>
          <a:ln/>
        </p:spPr>
      </p:sp>
      <p:sp>
        <p:nvSpPr>
          <p:cNvPr id="5" name="Text 3"/>
          <p:cNvSpPr txBox="1"/>
          <p:nvPr/>
        </p:nvSpPr>
        <p:spPr>
          <a:xfrm>
            <a:off x="548640" y="1143000"/>
            <a:ext cx="5212080" cy="146304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Hybrid Movie Recommender</a:t>
            </a:r>
            <a:endParaRPr lang="en-US" sz="4000" dirty="0"/>
          </a:p>
        </p:txBody>
      </p:sp>
      <p:sp>
        <p:nvSpPr>
          <p:cNvPr id="6" name="Text 4"/>
          <p:cNvSpPr txBox="1"/>
          <p:nvPr/>
        </p:nvSpPr>
        <p:spPr>
          <a:xfrm>
            <a:off x="548640" y="2697480"/>
            <a:ext cx="4937760" cy="822960"/>
          </a:xfrm>
          <a:prstGeom prst="rect">
            <a:avLst/>
          </a:prstGeom>
          <a:noFill/>
          <a:ln/>
        </p:spPr>
        <p:txBody>
          <a:bodyPr wrap="square" lIns="0" tIns="0" rIns="0" bIns="0" rtlCol="0" anchor="t"/>
          <a:lstStyle/>
          <a:p>
            <a:pPr indent="0" marL="0">
              <a:buNone/>
            </a:pPr>
            <a:r>
              <a:rPr lang="en-US" sz="1800" dirty="0">
                <a:solidFill>
                  <a:schemeClr val="accent6"/>
                </a:solidFill>
              </a:rPr>
              <a:t>Cold-start handling, one-line reasons and a discovery dial, built and tested on MovieLens</a:t>
            </a:r>
            <a:endParaRPr lang="en-US" sz="1800" dirty="0"/>
          </a:p>
        </p:txBody>
      </p:sp>
      <p:sp>
        <p:nvSpPr>
          <p:cNvPr id="7" name="Text 5"/>
          <p:cNvSpPr txBox="1"/>
          <p:nvPr/>
        </p:nvSpPr>
        <p:spPr>
          <a:xfrm>
            <a:off x="548640" y="3611880"/>
            <a:ext cx="5486400" cy="685800"/>
          </a:xfrm>
          <a:prstGeom prst="rect">
            <a:avLst/>
          </a:prstGeom>
          <a:noFill/>
          <a:ln/>
        </p:spPr>
        <p:txBody>
          <a:bodyPr wrap="square" lIns="0" tIns="0" rIns="0" bIns="0" rtlCol="0" anchor="t"/>
          <a:lstStyle/>
          <a:p>
            <a:pPr indent="0" marL="0">
              <a:spcAft>
                <a:spcPts val="200"/>
              </a:spcAft>
              <a:buNone/>
            </a:pPr>
            <a:r>
              <a:rPr lang="en-US" sz="1700" b="1" dirty="0">
                <a:solidFill>
                  <a:schemeClr val="accent2"/>
                </a:solidFill>
              </a:rPr>
              <a:t>Sahil Lenka  ·  2427010391</a:t>
            </a:r>
            <a:endParaRPr lang="en-US" sz="1700" dirty="0"/>
          </a:p>
          <a:p>
            <a:pPr indent="0" marL="0">
              <a:spcAft>
                <a:spcPts val="200"/>
              </a:spcAft>
              <a:buNone/>
            </a:pPr>
            <a:r>
              <a:rPr lang="en-US" sz="1700" b="1" dirty="0">
                <a:solidFill>
                  <a:schemeClr val="accent2"/>
                </a:solidFill>
              </a:rPr>
              <a:t>Kanishk Shukla  ·  2427010432</a:t>
            </a:r>
            <a:endParaRPr lang="en-US" sz="1700" dirty="0"/>
          </a:p>
        </p:txBody>
      </p:sp>
      <p:sp>
        <p:nvSpPr>
          <p:cNvPr id="8" name="Text 6"/>
          <p:cNvSpPr txBox="1"/>
          <p:nvPr/>
        </p:nvSpPr>
        <p:spPr>
          <a:xfrm>
            <a:off x="548640" y="4251960"/>
            <a:ext cx="5486400" cy="320040"/>
          </a:xfrm>
          <a:prstGeom prst="rect">
            <a:avLst/>
          </a:prstGeom>
          <a:noFill/>
          <a:ln/>
        </p:spPr>
        <p:txBody>
          <a:bodyPr wrap="square" lIns="0" tIns="0" rIns="0" bIns="0" rtlCol="0" anchor="ctr"/>
          <a:lstStyle/>
          <a:p>
            <a:pPr indent="0" marL="0">
              <a:buNone/>
            </a:pPr>
            <a:r>
              <a:rPr lang="en-US" sz="1400" dirty="0">
                <a:solidFill>
                  <a:schemeClr val="accent5"/>
                </a:solidFill>
              </a:rPr>
              <a:t>Recommender Systems  ·  Manipal University Jaipur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The problem</a:t>
            </a:r>
            <a:endParaRPr lang="en-US" sz="3200" dirty="0"/>
          </a:p>
        </p:txBody>
      </p:sp>
      <p:sp>
        <p:nvSpPr>
          <p:cNvPr id="3" name="Icon circle 1"/>
          <p:cNvSpPr/>
          <p:nvPr/>
        </p:nvSpPr>
        <p:spPr>
          <a:xfrm>
            <a:off x="457200" y="1234440"/>
            <a:ext cx="640080" cy="640080"/>
          </a:xfrm>
          <a:prstGeom prst="ellipse">
            <a:avLst/>
          </a:prstGeom>
          <a:solidFill>
            <a:schemeClr val="accent1"/>
          </a:solidFill>
          <a:ln/>
        </p:spPr>
      </p:sp>
      <p:pic>
        <p:nvPicPr>
          <p:cNvPr id="4" name="Image 0" descr="Cold start">    </p:cNvPr>
          <p:cNvPicPr>
            <a:picLocks noChangeAspect="1"/>
          </p:cNvPicPr>
          <p:nvPr/>
        </p:nvPicPr>
        <p:blipFill>
          <a:blip r:embed="rId1"/>
          <a:stretch>
            <a:fillRect/>
          </a:stretch>
        </p:blipFill>
        <p:spPr>
          <a:xfrm>
            <a:off x="612648" y="1389888"/>
            <a:ext cx="329184" cy="329184"/>
          </a:xfrm>
          <a:prstGeom prst="rect">
            <a:avLst/>
          </a:prstGeom>
        </p:spPr>
      </p:pic>
      <p:sp>
        <p:nvSpPr>
          <p:cNvPr id="5" name="Text 2"/>
          <p:cNvSpPr txBox="1"/>
          <p:nvPr/>
        </p:nvSpPr>
        <p:spPr>
          <a:xfrm>
            <a:off x="1325880" y="1234440"/>
            <a:ext cx="7223760" cy="292608"/>
          </a:xfrm>
          <a:prstGeom prst="rect">
            <a:avLst/>
          </a:prstGeom>
          <a:noFill/>
          <a:ln/>
        </p:spPr>
        <p:txBody>
          <a:bodyPr wrap="square" lIns="0" tIns="0" rIns="0" bIns="0" rtlCol="0" anchor="ctr"/>
          <a:lstStyle/>
          <a:p>
            <a:pPr indent="0" marL="0">
              <a:buNone/>
            </a:pPr>
            <a:r>
              <a:rPr lang="en-US" sz="2000" b="1" dirty="0">
                <a:solidFill>
                  <a:schemeClr val="tx2"/>
                </a:solidFill>
              </a:rPr>
              <a:t>Cold start</a:t>
            </a:r>
            <a:endParaRPr lang="en-US" sz="2000" dirty="0"/>
          </a:p>
        </p:txBody>
      </p:sp>
      <p:sp>
        <p:nvSpPr>
          <p:cNvPr id="6" name="Text 3"/>
          <p:cNvSpPr txBox="1"/>
          <p:nvPr/>
        </p:nvSpPr>
        <p:spPr>
          <a:xfrm>
            <a:off x="1325880" y="1545336"/>
            <a:ext cx="7223760" cy="457200"/>
          </a:xfrm>
          <a:prstGeom prst="rect">
            <a:avLst/>
          </a:prstGeom>
          <a:noFill/>
          <a:ln/>
        </p:spPr>
        <p:txBody>
          <a:bodyPr wrap="square" lIns="0" tIns="0" rIns="0" bIns="0" rtlCol="0" anchor="t"/>
          <a:lstStyle/>
          <a:p>
            <a:pPr indent="0" marL="0">
              <a:buNone/>
            </a:pPr>
            <a:r>
              <a:rPr lang="en-US" sz="1400" dirty="0">
                <a:solidFill>
                  <a:schemeClr val="tx1"/>
                </a:solidFill>
              </a:rPr>
              <a:t>A new user has no history, so most recommenders fall back to the same generic list.</a:t>
            </a:r>
            <a:endParaRPr lang="en-US" sz="1400" dirty="0"/>
          </a:p>
        </p:txBody>
      </p:sp>
      <p:sp>
        <p:nvSpPr>
          <p:cNvPr id="7" name="Icon circle 2"/>
          <p:cNvSpPr/>
          <p:nvPr/>
        </p:nvSpPr>
        <p:spPr>
          <a:xfrm>
            <a:off x="457200" y="2194560"/>
            <a:ext cx="640080" cy="640080"/>
          </a:xfrm>
          <a:prstGeom prst="ellipse">
            <a:avLst/>
          </a:prstGeom>
          <a:solidFill>
            <a:schemeClr val="accent1"/>
          </a:solidFill>
          <a:ln/>
        </p:spPr>
      </p:sp>
      <p:pic>
        <p:nvPicPr>
          <p:cNvPr id="8" name="Image 1" descr="No reasons">    </p:cNvPr>
          <p:cNvPicPr>
            <a:picLocks noChangeAspect="1"/>
          </p:cNvPicPr>
          <p:nvPr/>
        </p:nvPicPr>
        <p:blipFill>
          <a:blip r:embed="rId2"/>
          <a:stretch>
            <a:fillRect/>
          </a:stretch>
        </p:blipFill>
        <p:spPr>
          <a:xfrm>
            <a:off x="612648" y="2350008"/>
            <a:ext cx="329184" cy="329184"/>
          </a:xfrm>
          <a:prstGeom prst="rect">
            <a:avLst/>
          </a:prstGeom>
        </p:spPr>
      </p:pic>
      <p:sp>
        <p:nvSpPr>
          <p:cNvPr id="9" name="Text 5"/>
          <p:cNvSpPr txBox="1"/>
          <p:nvPr/>
        </p:nvSpPr>
        <p:spPr>
          <a:xfrm>
            <a:off x="1325880" y="2194560"/>
            <a:ext cx="7223760" cy="292608"/>
          </a:xfrm>
          <a:prstGeom prst="rect">
            <a:avLst/>
          </a:prstGeom>
          <a:noFill/>
          <a:ln/>
        </p:spPr>
        <p:txBody>
          <a:bodyPr wrap="square" lIns="0" tIns="0" rIns="0" bIns="0" rtlCol="0" anchor="ctr"/>
          <a:lstStyle/>
          <a:p>
            <a:pPr indent="0" marL="0">
              <a:buNone/>
            </a:pPr>
            <a:r>
              <a:rPr lang="en-US" sz="2000" b="1" dirty="0">
                <a:solidFill>
                  <a:schemeClr val="tx2"/>
                </a:solidFill>
              </a:rPr>
              <a:t>No reasons</a:t>
            </a:r>
            <a:endParaRPr lang="en-US" sz="2000" dirty="0"/>
          </a:p>
        </p:txBody>
      </p:sp>
      <p:sp>
        <p:nvSpPr>
          <p:cNvPr id="10" name="Text 6"/>
          <p:cNvSpPr txBox="1"/>
          <p:nvPr/>
        </p:nvSpPr>
        <p:spPr>
          <a:xfrm>
            <a:off x="1325880" y="2505456"/>
            <a:ext cx="7223760" cy="457200"/>
          </a:xfrm>
          <a:prstGeom prst="rect">
            <a:avLst/>
          </a:prstGeom>
          <a:noFill/>
          <a:ln/>
        </p:spPr>
        <p:txBody>
          <a:bodyPr wrap="square" lIns="0" tIns="0" rIns="0" bIns="0" rtlCol="0" anchor="t"/>
          <a:lstStyle/>
          <a:p>
            <a:pPr indent="0" marL="0">
              <a:buNone/>
            </a:pPr>
            <a:r>
              <a:rPr lang="en-US" sz="1400" dirty="0">
                <a:solidFill>
                  <a:schemeClr val="tx1"/>
                </a:solidFill>
              </a:rPr>
              <a:t>People get a list of titles and no idea why each one was picked, so they stop trusting it.</a:t>
            </a:r>
            <a:endParaRPr lang="en-US" sz="1400" dirty="0"/>
          </a:p>
        </p:txBody>
      </p:sp>
      <p:sp>
        <p:nvSpPr>
          <p:cNvPr id="11" name="Icon circle 3"/>
          <p:cNvSpPr/>
          <p:nvPr/>
        </p:nvSpPr>
        <p:spPr>
          <a:xfrm>
            <a:off x="457200" y="3154680"/>
            <a:ext cx="640080" cy="640080"/>
          </a:xfrm>
          <a:prstGeom prst="ellipse">
            <a:avLst/>
          </a:prstGeom>
          <a:solidFill>
            <a:schemeClr val="accent1"/>
          </a:solidFill>
          <a:ln/>
        </p:spPr>
      </p:sp>
      <p:pic>
        <p:nvPicPr>
          <p:cNvPr id="12" name="Image 2" descr="Endless scrolling">    </p:cNvPr>
          <p:cNvPicPr>
            <a:picLocks noChangeAspect="1"/>
          </p:cNvPicPr>
          <p:nvPr/>
        </p:nvPicPr>
        <p:blipFill>
          <a:blip r:embed="rId3"/>
          <a:stretch>
            <a:fillRect/>
          </a:stretch>
        </p:blipFill>
        <p:spPr>
          <a:xfrm>
            <a:off x="612648" y="3310128"/>
            <a:ext cx="329184" cy="329184"/>
          </a:xfrm>
          <a:prstGeom prst="rect">
            <a:avLst/>
          </a:prstGeom>
        </p:spPr>
      </p:pic>
      <p:sp>
        <p:nvSpPr>
          <p:cNvPr id="13" name="Text 8"/>
          <p:cNvSpPr txBox="1"/>
          <p:nvPr/>
        </p:nvSpPr>
        <p:spPr>
          <a:xfrm>
            <a:off x="1325880" y="3154680"/>
            <a:ext cx="7223760" cy="292608"/>
          </a:xfrm>
          <a:prstGeom prst="rect">
            <a:avLst/>
          </a:prstGeom>
          <a:noFill/>
          <a:ln/>
        </p:spPr>
        <p:txBody>
          <a:bodyPr wrap="square" lIns="0" tIns="0" rIns="0" bIns="0" rtlCol="0" anchor="ctr"/>
          <a:lstStyle/>
          <a:p>
            <a:pPr indent="0" marL="0">
              <a:buNone/>
            </a:pPr>
            <a:r>
              <a:rPr lang="en-US" sz="2000" b="1" dirty="0">
                <a:solidFill>
                  <a:schemeClr val="tx2"/>
                </a:solidFill>
              </a:rPr>
              <a:t>Endless scrolling</a:t>
            </a:r>
            <a:endParaRPr lang="en-US" sz="2000" dirty="0"/>
          </a:p>
        </p:txBody>
      </p:sp>
      <p:sp>
        <p:nvSpPr>
          <p:cNvPr id="14" name="Text 9"/>
          <p:cNvSpPr txBox="1"/>
          <p:nvPr/>
        </p:nvSpPr>
        <p:spPr>
          <a:xfrm>
            <a:off x="1325880" y="3465576"/>
            <a:ext cx="7223760" cy="457200"/>
          </a:xfrm>
          <a:prstGeom prst="rect">
            <a:avLst/>
          </a:prstGeom>
          <a:noFill/>
          <a:ln/>
        </p:spPr>
        <p:txBody>
          <a:bodyPr wrap="square" lIns="0" tIns="0" rIns="0" bIns="0" rtlCol="0" anchor="t"/>
          <a:lstStyle/>
          <a:p>
            <a:pPr indent="0" marL="0">
              <a:buNone/>
            </a:pPr>
            <a:r>
              <a:rPr lang="en-US" sz="1400" dirty="0">
                <a:solidFill>
                  <a:schemeClr val="tx1"/>
                </a:solidFill>
              </a:rPr>
              <a:t>Catalogs are huge. People spend more time scrolling than watching.</a:t>
            </a:r>
            <a:endParaRPr lang="en-US" sz="1400" dirty="0"/>
          </a:p>
        </p:txBody>
      </p:sp>
      <p:sp>
        <p:nvSpPr>
          <p:cNvPr id="15" name="Goal card"/>
          <p:cNvSpPr/>
          <p:nvPr/>
        </p:nvSpPr>
        <p:spPr>
          <a:xfrm>
            <a:off x="457200" y="4023360"/>
            <a:ext cx="8229600" cy="548640"/>
          </a:xfrm>
          <a:prstGeom prst="roundRect">
            <a:avLst>
              <a:gd name="adj" fmla="val 13333"/>
            </a:avLst>
          </a:prstGeom>
          <a:solidFill>
            <a:schemeClr val="bg2"/>
          </a:solidFill>
          <a:ln/>
        </p:spPr>
      </p:sp>
      <p:sp>
        <p:nvSpPr>
          <p:cNvPr id="16" name="Text 11"/>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600" b="1" dirty="0">
                <a:solidFill>
                  <a:schemeClr val="accent1"/>
                </a:solidFill>
              </a:rPr>
              <a:t>Goal: useful picks within a minute of signing up, each with a reason the user can check.</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Six signals, one score</a:t>
            </a:r>
            <a:endParaRPr lang="en-US" sz="3200" dirty="0"/>
          </a:p>
        </p:txBody>
      </p:sp>
      <p:sp>
        <p:nvSpPr>
          <p:cNvPr id="3" name="Signal card Preference"/>
          <p:cNvSpPr/>
          <p:nvPr/>
        </p:nvSpPr>
        <p:spPr>
          <a:xfrm>
            <a:off x="457200" y="1188720"/>
            <a:ext cx="1234440" cy="1737360"/>
          </a:xfrm>
          <a:prstGeom prst="roundRect">
            <a:avLst>
              <a:gd name="adj" fmla="val 7407"/>
            </a:avLst>
          </a:prstGeom>
          <a:solidFill>
            <a:schemeClr val="accent1"/>
          </a:solidFill>
          <a:ln/>
        </p:spPr>
      </p:sp>
      <p:sp>
        <p:nvSpPr>
          <p:cNvPr id="4" name="Text 2"/>
          <p:cNvSpPr txBox="1"/>
          <p:nvPr/>
        </p:nvSpPr>
        <p:spPr>
          <a:xfrm>
            <a:off x="548640" y="1280160"/>
            <a:ext cx="1051560" cy="457200"/>
          </a:xfrm>
          <a:prstGeom prst="rect">
            <a:avLst/>
          </a:prstGeom>
          <a:noFill/>
          <a:ln/>
        </p:spPr>
        <p:txBody>
          <a:bodyPr wrap="square" lIns="0" tIns="0" rIns="0" bIns="0" rtlCol="0" anchor="t"/>
          <a:lstStyle/>
          <a:p>
            <a:pPr indent="0" marL="0">
              <a:buNone/>
            </a:pPr>
            <a:r>
              <a:rPr lang="en-US" sz="1400" b="1" dirty="0">
                <a:solidFill>
                  <a:schemeClr val="bg1"/>
                </a:solidFill>
              </a:rPr>
              <a:t>Preference</a:t>
            </a:r>
            <a:endParaRPr lang="en-US" sz="1400" dirty="0"/>
          </a:p>
        </p:txBody>
      </p:sp>
      <p:sp>
        <p:nvSpPr>
          <p:cNvPr id="5" name="Text 3"/>
          <p:cNvSpPr txBox="1"/>
          <p:nvPr/>
        </p:nvSpPr>
        <p:spPr>
          <a:xfrm>
            <a:off x="548640" y="1783080"/>
            <a:ext cx="1051560" cy="1188720"/>
          </a:xfrm>
          <a:prstGeom prst="rect">
            <a:avLst/>
          </a:prstGeom>
          <a:noFill/>
          <a:ln/>
        </p:spPr>
        <p:txBody>
          <a:bodyPr wrap="square" lIns="0" tIns="0" rIns="0" bIns="0" rtlCol="0" anchor="t"/>
          <a:lstStyle/>
          <a:p>
            <a:pPr indent="0" marL="0">
              <a:buNone/>
            </a:pPr>
            <a:r>
              <a:rPr lang="en-US" sz="1200" dirty="0">
                <a:solidFill>
                  <a:schemeClr val="bg1"/>
                </a:solidFill>
              </a:rPr>
              <a:t>Genres from the quiz</a:t>
            </a:r>
            <a:endParaRPr lang="en-US" sz="1200" dirty="0"/>
          </a:p>
        </p:txBody>
      </p:sp>
      <p:sp>
        <p:nvSpPr>
          <p:cNvPr id="6" name="Signal card Content"/>
          <p:cNvSpPr/>
          <p:nvPr/>
        </p:nvSpPr>
        <p:spPr>
          <a:xfrm>
            <a:off x="1856232" y="1188720"/>
            <a:ext cx="1234440" cy="1737360"/>
          </a:xfrm>
          <a:prstGeom prst="roundRect">
            <a:avLst>
              <a:gd name="adj" fmla="val 7407"/>
            </a:avLst>
          </a:prstGeom>
          <a:solidFill>
            <a:schemeClr val="accent3"/>
          </a:solidFill>
          <a:ln/>
        </p:spPr>
      </p:sp>
      <p:sp>
        <p:nvSpPr>
          <p:cNvPr id="7" name="Text 5"/>
          <p:cNvSpPr txBox="1"/>
          <p:nvPr/>
        </p:nvSpPr>
        <p:spPr>
          <a:xfrm>
            <a:off x="1947672" y="1280160"/>
            <a:ext cx="1051560" cy="457200"/>
          </a:xfrm>
          <a:prstGeom prst="rect">
            <a:avLst/>
          </a:prstGeom>
          <a:noFill/>
          <a:ln/>
        </p:spPr>
        <p:txBody>
          <a:bodyPr wrap="square" lIns="0" tIns="0" rIns="0" bIns="0" rtlCol="0" anchor="t"/>
          <a:lstStyle/>
          <a:p>
            <a:pPr indent="0" marL="0">
              <a:buNone/>
            </a:pPr>
            <a:r>
              <a:rPr lang="en-US" sz="1400" b="1" dirty="0">
                <a:solidFill>
                  <a:schemeClr val="bg1"/>
                </a:solidFill>
              </a:rPr>
              <a:t>Content</a:t>
            </a:r>
            <a:endParaRPr lang="en-US" sz="1400" dirty="0"/>
          </a:p>
        </p:txBody>
      </p:sp>
      <p:sp>
        <p:nvSpPr>
          <p:cNvPr id="8" name="Text 6"/>
          <p:cNvSpPr txBox="1"/>
          <p:nvPr/>
        </p:nvSpPr>
        <p:spPr>
          <a:xfrm>
            <a:off x="1947672" y="1783080"/>
            <a:ext cx="1051560" cy="1188720"/>
          </a:xfrm>
          <a:prstGeom prst="rect">
            <a:avLst/>
          </a:prstGeom>
          <a:noFill/>
          <a:ln/>
        </p:spPr>
        <p:txBody>
          <a:bodyPr wrap="square" lIns="0" tIns="0" rIns="0" bIns="0" rtlCol="0" anchor="t"/>
          <a:lstStyle/>
          <a:p>
            <a:pPr indent="0" marL="0">
              <a:buNone/>
            </a:pPr>
            <a:r>
              <a:rPr lang="en-US" sz="1200" dirty="0">
                <a:solidFill>
                  <a:schemeClr val="bg1"/>
                </a:solidFill>
              </a:rPr>
              <a:t>TF-IDF on genres and tags</a:t>
            </a:r>
            <a:endParaRPr lang="en-US" sz="1200" dirty="0"/>
          </a:p>
        </p:txBody>
      </p:sp>
      <p:sp>
        <p:nvSpPr>
          <p:cNvPr id="9" name="Signal card Collaborative"/>
          <p:cNvSpPr/>
          <p:nvPr/>
        </p:nvSpPr>
        <p:spPr>
          <a:xfrm>
            <a:off x="3255264" y="1188720"/>
            <a:ext cx="1234440" cy="1737360"/>
          </a:xfrm>
          <a:prstGeom prst="roundRect">
            <a:avLst>
              <a:gd name="adj" fmla="val 7407"/>
            </a:avLst>
          </a:prstGeom>
          <a:solidFill>
            <a:schemeClr val="accent4"/>
          </a:solidFill>
          <a:ln/>
        </p:spPr>
      </p:sp>
      <p:sp>
        <p:nvSpPr>
          <p:cNvPr id="10" name="Text 8"/>
          <p:cNvSpPr txBox="1"/>
          <p:nvPr/>
        </p:nvSpPr>
        <p:spPr>
          <a:xfrm>
            <a:off x="3346704" y="1280160"/>
            <a:ext cx="1051560" cy="457200"/>
          </a:xfrm>
          <a:prstGeom prst="rect">
            <a:avLst/>
          </a:prstGeom>
          <a:noFill/>
          <a:ln/>
        </p:spPr>
        <p:txBody>
          <a:bodyPr wrap="square" lIns="0" tIns="0" rIns="0" bIns="0" rtlCol="0" anchor="t"/>
          <a:lstStyle/>
          <a:p>
            <a:pPr indent="0" marL="0">
              <a:buNone/>
            </a:pPr>
            <a:r>
              <a:rPr lang="en-US" sz="1400" b="1" dirty="0">
                <a:solidFill>
                  <a:schemeClr val="bg1"/>
                </a:solidFill>
              </a:rPr>
              <a:t>Collaborative</a:t>
            </a:r>
            <a:endParaRPr lang="en-US" sz="1400" dirty="0"/>
          </a:p>
        </p:txBody>
      </p:sp>
      <p:sp>
        <p:nvSpPr>
          <p:cNvPr id="11" name="Text 9"/>
          <p:cNvSpPr txBox="1"/>
          <p:nvPr/>
        </p:nvSpPr>
        <p:spPr>
          <a:xfrm>
            <a:off x="3346704" y="1783080"/>
            <a:ext cx="1051560" cy="1188720"/>
          </a:xfrm>
          <a:prstGeom prst="rect">
            <a:avLst/>
          </a:prstGeom>
          <a:noFill/>
          <a:ln/>
        </p:spPr>
        <p:txBody>
          <a:bodyPr wrap="square" lIns="0" tIns="0" rIns="0" bIns="0" rtlCol="0" anchor="t"/>
          <a:lstStyle/>
          <a:p>
            <a:pPr indent="0" marL="0">
              <a:buNone/>
            </a:pPr>
            <a:r>
              <a:rPr lang="en-US" sz="1200" dirty="0">
                <a:solidFill>
                  <a:schemeClr val="bg1"/>
                </a:solidFill>
              </a:rPr>
              <a:t>Films liked by similar users</a:t>
            </a:r>
            <a:endParaRPr lang="en-US" sz="1200" dirty="0"/>
          </a:p>
        </p:txBody>
      </p:sp>
      <p:sp>
        <p:nvSpPr>
          <p:cNvPr id="12" name="Signal card Context"/>
          <p:cNvSpPr/>
          <p:nvPr/>
        </p:nvSpPr>
        <p:spPr>
          <a:xfrm>
            <a:off x="4654296" y="1188720"/>
            <a:ext cx="1234440" cy="1737360"/>
          </a:xfrm>
          <a:prstGeom prst="roundRect">
            <a:avLst>
              <a:gd name="adj" fmla="val 7407"/>
            </a:avLst>
          </a:prstGeom>
          <a:solidFill>
            <a:schemeClr val="accent2"/>
          </a:solidFill>
          <a:ln/>
        </p:spPr>
      </p:sp>
      <p:sp>
        <p:nvSpPr>
          <p:cNvPr id="13" name="Text 11"/>
          <p:cNvSpPr txBox="1"/>
          <p:nvPr/>
        </p:nvSpPr>
        <p:spPr>
          <a:xfrm>
            <a:off x="4745736" y="1280160"/>
            <a:ext cx="1051560" cy="457200"/>
          </a:xfrm>
          <a:prstGeom prst="rect">
            <a:avLst/>
          </a:prstGeom>
          <a:noFill/>
          <a:ln/>
        </p:spPr>
        <p:txBody>
          <a:bodyPr wrap="square" lIns="0" tIns="0" rIns="0" bIns="0" rtlCol="0" anchor="t"/>
          <a:lstStyle/>
          <a:p>
            <a:pPr indent="0" marL="0">
              <a:buNone/>
            </a:pPr>
            <a:r>
              <a:rPr lang="en-US" sz="1400" b="1" dirty="0">
                <a:solidFill>
                  <a:schemeClr val="tx2"/>
                </a:solidFill>
              </a:rPr>
              <a:t>Context</a:t>
            </a:r>
            <a:endParaRPr lang="en-US" sz="1400" dirty="0"/>
          </a:p>
        </p:txBody>
      </p:sp>
      <p:sp>
        <p:nvSpPr>
          <p:cNvPr id="14" name="Text 12"/>
          <p:cNvSpPr txBox="1"/>
          <p:nvPr/>
        </p:nvSpPr>
        <p:spPr>
          <a:xfrm>
            <a:off x="4745736" y="1783080"/>
            <a:ext cx="1051560" cy="1188720"/>
          </a:xfrm>
          <a:prstGeom prst="rect">
            <a:avLst/>
          </a:prstGeom>
          <a:noFill/>
          <a:ln/>
        </p:spPr>
        <p:txBody>
          <a:bodyPr wrap="square" lIns="0" tIns="0" rIns="0" bIns="0" rtlCol="0" anchor="t"/>
          <a:lstStyle/>
          <a:p>
            <a:pPr indent="0" marL="0">
              <a:buNone/>
            </a:pPr>
            <a:r>
              <a:rPr lang="en-US" sz="1200" dirty="0">
                <a:solidFill>
                  <a:schemeClr val="tx2"/>
                </a:solidFill>
              </a:rPr>
              <a:t>Tonight's mood</a:t>
            </a:r>
            <a:endParaRPr lang="en-US" sz="1200" dirty="0"/>
          </a:p>
        </p:txBody>
      </p:sp>
      <p:sp>
        <p:nvSpPr>
          <p:cNvPr id="15" name="Signal card Quality"/>
          <p:cNvSpPr/>
          <p:nvPr/>
        </p:nvSpPr>
        <p:spPr>
          <a:xfrm>
            <a:off x="6053328" y="1188720"/>
            <a:ext cx="1234440" cy="1737360"/>
          </a:xfrm>
          <a:prstGeom prst="roundRect">
            <a:avLst>
              <a:gd name="adj" fmla="val 7407"/>
            </a:avLst>
          </a:prstGeom>
          <a:solidFill>
            <a:schemeClr val="accent5"/>
          </a:solidFill>
          <a:ln/>
        </p:spPr>
      </p:sp>
      <p:sp>
        <p:nvSpPr>
          <p:cNvPr id="16" name="Text 14"/>
          <p:cNvSpPr txBox="1"/>
          <p:nvPr/>
        </p:nvSpPr>
        <p:spPr>
          <a:xfrm>
            <a:off x="6144768" y="1280160"/>
            <a:ext cx="1051560" cy="457200"/>
          </a:xfrm>
          <a:prstGeom prst="rect">
            <a:avLst/>
          </a:prstGeom>
          <a:noFill/>
          <a:ln/>
        </p:spPr>
        <p:txBody>
          <a:bodyPr wrap="square" lIns="0" tIns="0" rIns="0" bIns="0" rtlCol="0" anchor="t"/>
          <a:lstStyle/>
          <a:p>
            <a:pPr indent="0" marL="0">
              <a:buNone/>
            </a:pPr>
            <a:r>
              <a:rPr lang="en-US" sz="1400" b="1" dirty="0">
                <a:solidFill>
                  <a:schemeClr val="bg1"/>
                </a:solidFill>
              </a:rPr>
              <a:t>Quality</a:t>
            </a:r>
            <a:endParaRPr lang="en-US" sz="1400" dirty="0"/>
          </a:p>
        </p:txBody>
      </p:sp>
      <p:sp>
        <p:nvSpPr>
          <p:cNvPr id="17" name="Text 15"/>
          <p:cNvSpPr txBox="1"/>
          <p:nvPr/>
        </p:nvSpPr>
        <p:spPr>
          <a:xfrm>
            <a:off x="6144768" y="1783080"/>
            <a:ext cx="1051560" cy="1188720"/>
          </a:xfrm>
          <a:prstGeom prst="rect">
            <a:avLst/>
          </a:prstGeom>
          <a:noFill/>
          <a:ln/>
        </p:spPr>
        <p:txBody>
          <a:bodyPr wrap="square" lIns="0" tIns="0" rIns="0" bIns="0" rtlCol="0" anchor="t"/>
          <a:lstStyle/>
          <a:p>
            <a:pPr indent="0" marL="0">
              <a:buNone/>
            </a:pPr>
            <a:r>
              <a:rPr lang="en-US" sz="1200" dirty="0">
                <a:solidFill>
                  <a:schemeClr val="bg1"/>
                </a:solidFill>
              </a:rPr>
              <a:t>Rating and popularity, capped</a:t>
            </a:r>
            <a:endParaRPr lang="en-US" sz="1200" dirty="0"/>
          </a:p>
        </p:txBody>
      </p:sp>
      <p:sp>
        <p:nvSpPr>
          <p:cNvPr id="18" name="Signal card Discovery"/>
          <p:cNvSpPr/>
          <p:nvPr/>
        </p:nvSpPr>
        <p:spPr>
          <a:xfrm>
            <a:off x="7452360" y="1188720"/>
            <a:ext cx="1234440" cy="1737360"/>
          </a:xfrm>
          <a:prstGeom prst="roundRect">
            <a:avLst>
              <a:gd name="adj" fmla="val 7407"/>
            </a:avLst>
          </a:prstGeom>
          <a:solidFill>
            <a:schemeClr val="accent6"/>
          </a:solidFill>
          <a:ln/>
        </p:spPr>
      </p:sp>
      <p:sp>
        <p:nvSpPr>
          <p:cNvPr id="19" name="Text 17"/>
          <p:cNvSpPr txBox="1"/>
          <p:nvPr/>
        </p:nvSpPr>
        <p:spPr>
          <a:xfrm>
            <a:off x="7543800" y="1280160"/>
            <a:ext cx="1051560" cy="457200"/>
          </a:xfrm>
          <a:prstGeom prst="rect">
            <a:avLst/>
          </a:prstGeom>
          <a:noFill/>
          <a:ln/>
        </p:spPr>
        <p:txBody>
          <a:bodyPr wrap="square" lIns="0" tIns="0" rIns="0" bIns="0" rtlCol="0" anchor="t"/>
          <a:lstStyle/>
          <a:p>
            <a:pPr indent="0" marL="0">
              <a:buNone/>
            </a:pPr>
            <a:r>
              <a:rPr lang="en-US" sz="1400" b="1" dirty="0">
                <a:solidFill>
                  <a:schemeClr val="tx2"/>
                </a:solidFill>
              </a:rPr>
              <a:t>Discovery</a:t>
            </a:r>
            <a:endParaRPr lang="en-US" sz="1400" dirty="0"/>
          </a:p>
        </p:txBody>
      </p:sp>
      <p:sp>
        <p:nvSpPr>
          <p:cNvPr id="20" name="Text 18"/>
          <p:cNvSpPr txBox="1"/>
          <p:nvPr/>
        </p:nvSpPr>
        <p:spPr>
          <a:xfrm>
            <a:off x="7543800" y="1783080"/>
            <a:ext cx="1051560" cy="1188720"/>
          </a:xfrm>
          <a:prstGeom prst="rect">
            <a:avLst/>
          </a:prstGeom>
          <a:noFill/>
          <a:ln/>
        </p:spPr>
        <p:txBody>
          <a:bodyPr wrap="square" lIns="0" tIns="0" rIns="0" bIns="0" rtlCol="0" anchor="t"/>
          <a:lstStyle/>
          <a:p>
            <a:pPr indent="0" marL="0">
              <a:buNone/>
            </a:pPr>
            <a:r>
              <a:rPr lang="en-US" sz="1200" dirty="0">
                <a:solidFill>
                  <a:schemeClr val="tx2"/>
                </a:solidFill>
              </a:rPr>
              <a:t>Unfamiliar but fitting</a:t>
            </a:r>
            <a:endParaRPr lang="en-US" sz="1200" dirty="0"/>
          </a:p>
        </p:txBody>
      </p:sp>
      <p:sp>
        <p:nvSpPr>
          <p:cNvPr id="21" name="Text 19"/>
          <p:cNvSpPr txBox="1"/>
          <p:nvPr/>
        </p:nvSpPr>
        <p:spPr>
          <a:xfrm>
            <a:off x="457200" y="3200400"/>
            <a:ext cx="8229600" cy="685800"/>
          </a:xfrm>
          <a:prstGeom prst="rect">
            <a:avLst/>
          </a:prstGeom>
          <a:noFill/>
          <a:ln/>
        </p:spPr>
        <p:txBody>
          <a:bodyPr wrap="square" lIns="0" tIns="0" rIns="0" bIns="0" rtlCol="0" anchor="t"/>
          <a:lstStyle/>
          <a:p>
            <a:pPr indent="0" marL="0">
              <a:buNone/>
            </a:pPr>
            <a:r>
              <a:rPr lang="en-US" sz="1400" b="1" dirty="0">
                <a:solidFill>
                  <a:schemeClr val="tx1"/>
                </a:solidFill>
              </a:rPr>
              <a:t>Weights depend on how much the user has interacted: </a:t>
            </a:r>
            <a:pPr indent="0" marL="0">
              <a:buNone/>
            </a:pPr>
            <a:r>
              <a:rPr lang="en-US" sz="1400" dirty="0">
                <a:solidFill>
                  <a:schemeClr val="tx1"/>
                </a:solidFill>
              </a:rPr>
              <a:t>cold (nothing yet), warming (1 to 19 likes or dislikes), established (20 or more). Each signal is min-max scaled inside the candidate set before weighting.</a:t>
            </a:r>
            <a:endParaRPr lang="en-US" sz="1400" dirty="0"/>
          </a:p>
        </p:txBody>
      </p:sp>
      <p:sp>
        <p:nvSpPr>
          <p:cNvPr id="22" name="Text 20"/>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400" dirty="0">
                <a:solidFill>
                  <a:schemeClr val="tx1"/>
                </a:solidFill>
              </a:rPr>
              <a:t>An MMR re-rank then sets how varied the row is, and the top two signals write the reason shown on each card.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Data and test setup</a:t>
            </a:r>
            <a:endParaRPr lang="en-US" sz="3200" dirty="0"/>
          </a:p>
        </p:txBody>
      </p:sp>
      <p:sp>
        <p:nvSpPr>
          <p:cNvPr id="3" name="Callout card"/>
          <p:cNvSpPr/>
          <p:nvPr/>
        </p:nvSpPr>
        <p:spPr>
          <a:xfrm>
            <a:off x="457200" y="1188720"/>
            <a:ext cx="1920240" cy="1143000"/>
          </a:xfrm>
          <a:prstGeom prst="roundRect">
            <a:avLst>
              <a:gd name="adj" fmla="val 6400"/>
            </a:avLst>
          </a:prstGeom>
          <a:solidFill>
            <a:schemeClr val="bg2"/>
          </a:solidFill>
          <a:ln/>
        </p:spPr>
      </p:sp>
      <p:sp>
        <p:nvSpPr>
          <p:cNvPr id="4" name="Text 2"/>
          <p:cNvSpPr txBox="1"/>
          <p:nvPr/>
        </p:nvSpPr>
        <p:spPr>
          <a:xfrm>
            <a:off x="640080" y="1261872"/>
            <a:ext cx="1554480" cy="5715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9,125</a:t>
            </a:r>
            <a:endParaRPr lang="en-US" sz="3200" dirty="0"/>
          </a:p>
        </p:txBody>
      </p:sp>
      <p:sp>
        <p:nvSpPr>
          <p:cNvPr id="5" name="Text 3"/>
          <p:cNvSpPr txBox="1"/>
          <p:nvPr/>
        </p:nvSpPr>
        <p:spPr>
          <a:xfrm>
            <a:off x="640080" y="1817370"/>
            <a:ext cx="1554480" cy="457200"/>
          </a:xfrm>
          <a:prstGeom prst="rect">
            <a:avLst/>
          </a:prstGeom>
          <a:noFill/>
          <a:ln/>
        </p:spPr>
        <p:txBody>
          <a:bodyPr wrap="square" lIns="0" tIns="0" rIns="0" bIns="0" rtlCol="0" anchor="t"/>
          <a:lstStyle/>
          <a:p>
            <a:pPr indent="0" marL="0">
              <a:buNone/>
            </a:pPr>
            <a:r>
              <a:rPr lang="en-US" sz="1400" dirty="0">
                <a:solidFill>
                  <a:schemeClr val="tx1"/>
                </a:solidFill>
              </a:rPr>
              <a:t>movies</a:t>
            </a:r>
            <a:endParaRPr lang="en-US" sz="1400" dirty="0"/>
          </a:p>
        </p:txBody>
      </p:sp>
      <p:sp>
        <p:nvSpPr>
          <p:cNvPr id="6" name="Callout card"/>
          <p:cNvSpPr/>
          <p:nvPr/>
        </p:nvSpPr>
        <p:spPr>
          <a:xfrm>
            <a:off x="2542032" y="1188720"/>
            <a:ext cx="1920240" cy="1143000"/>
          </a:xfrm>
          <a:prstGeom prst="roundRect">
            <a:avLst>
              <a:gd name="adj" fmla="val 6400"/>
            </a:avLst>
          </a:prstGeom>
          <a:solidFill>
            <a:schemeClr val="bg2"/>
          </a:solidFill>
          <a:ln/>
        </p:spPr>
      </p:sp>
      <p:sp>
        <p:nvSpPr>
          <p:cNvPr id="7" name="Text 5"/>
          <p:cNvSpPr txBox="1"/>
          <p:nvPr/>
        </p:nvSpPr>
        <p:spPr>
          <a:xfrm>
            <a:off x="2724912" y="1261872"/>
            <a:ext cx="1554480" cy="5715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100,004</a:t>
            </a:r>
            <a:endParaRPr lang="en-US" sz="3200" dirty="0"/>
          </a:p>
        </p:txBody>
      </p:sp>
      <p:sp>
        <p:nvSpPr>
          <p:cNvPr id="8" name="Text 6"/>
          <p:cNvSpPr txBox="1"/>
          <p:nvPr/>
        </p:nvSpPr>
        <p:spPr>
          <a:xfrm>
            <a:off x="2724912" y="1817370"/>
            <a:ext cx="1554480" cy="457200"/>
          </a:xfrm>
          <a:prstGeom prst="rect">
            <a:avLst/>
          </a:prstGeom>
          <a:noFill/>
          <a:ln/>
        </p:spPr>
        <p:txBody>
          <a:bodyPr wrap="square" lIns="0" tIns="0" rIns="0" bIns="0" rtlCol="0" anchor="t"/>
          <a:lstStyle/>
          <a:p>
            <a:pPr indent="0" marL="0">
              <a:buNone/>
            </a:pPr>
            <a:r>
              <a:rPr lang="en-US" sz="1400" dirty="0">
                <a:solidFill>
                  <a:schemeClr val="tx1"/>
                </a:solidFill>
              </a:rPr>
              <a:t>ratings</a:t>
            </a:r>
            <a:endParaRPr lang="en-US" sz="1400" dirty="0"/>
          </a:p>
        </p:txBody>
      </p:sp>
      <p:sp>
        <p:nvSpPr>
          <p:cNvPr id="9" name="Callout card"/>
          <p:cNvSpPr/>
          <p:nvPr/>
        </p:nvSpPr>
        <p:spPr>
          <a:xfrm>
            <a:off x="4626864" y="1188720"/>
            <a:ext cx="1920240" cy="1143000"/>
          </a:xfrm>
          <a:prstGeom prst="roundRect">
            <a:avLst>
              <a:gd name="adj" fmla="val 6400"/>
            </a:avLst>
          </a:prstGeom>
          <a:solidFill>
            <a:schemeClr val="bg2"/>
          </a:solidFill>
          <a:ln/>
        </p:spPr>
      </p:sp>
      <p:sp>
        <p:nvSpPr>
          <p:cNvPr id="10" name="Text 8"/>
          <p:cNvSpPr txBox="1"/>
          <p:nvPr/>
        </p:nvSpPr>
        <p:spPr>
          <a:xfrm>
            <a:off x="4809744" y="1261872"/>
            <a:ext cx="1554480" cy="5715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671</a:t>
            </a:r>
            <a:endParaRPr lang="en-US" sz="3200" dirty="0"/>
          </a:p>
        </p:txBody>
      </p:sp>
      <p:sp>
        <p:nvSpPr>
          <p:cNvPr id="11" name="Text 9"/>
          <p:cNvSpPr txBox="1"/>
          <p:nvPr/>
        </p:nvSpPr>
        <p:spPr>
          <a:xfrm>
            <a:off x="4809744" y="1817370"/>
            <a:ext cx="1554480" cy="457200"/>
          </a:xfrm>
          <a:prstGeom prst="rect">
            <a:avLst/>
          </a:prstGeom>
          <a:noFill/>
          <a:ln/>
        </p:spPr>
        <p:txBody>
          <a:bodyPr wrap="square" lIns="0" tIns="0" rIns="0" bIns="0" rtlCol="0" anchor="t"/>
          <a:lstStyle/>
          <a:p>
            <a:pPr indent="0" marL="0">
              <a:buNone/>
            </a:pPr>
            <a:r>
              <a:rPr lang="en-US" sz="1400" dirty="0">
                <a:solidFill>
                  <a:schemeClr val="tx1"/>
                </a:solidFill>
              </a:rPr>
              <a:t>users</a:t>
            </a:r>
            <a:endParaRPr lang="en-US" sz="1400" dirty="0"/>
          </a:p>
        </p:txBody>
      </p:sp>
      <p:sp>
        <p:nvSpPr>
          <p:cNvPr id="12" name="Callout card"/>
          <p:cNvSpPr/>
          <p:nvPr/>
        </p:nvSpPr>
        <p:spPr>
          <a:xfrm>
            <a:off x="6711696" y="1188720"/>
            <a:ext cx="1920240" cy="1143000"/>
          </a:xfrm>
          <a:prstGeom prst="roundRect">
            <a:avLst>
              <a:gd name="adj" fmla="val 6400"/>
            </a:avLst>
          </a:prstGeom>
          <a:solidFill>
            <a:schemeClr val="bg2"/>
          </a:solidFill>
          <a:ln/>
        </p:spPr>
      </p:sp>
      <p:sp>
        <p:nvSpPr>
          <p:cNvPr id="13" name="Text 11"/>
          <p:cNvSpPr txBox="1"/>
          <p:nvPr/>
        </p:nvSpPr>
        <p:spPr>
          <a:xfrm>
            <a:off x="6894576" y="1261872"/>
            <a:ext cx="1554480" cy="5715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1,296</a:t>
            </a:r>
            <a:endParaRPr lang="en-US" sz="3200" dirty="0"/>
          </a:p>
        </p:txBody>
      </p:sp>
      <p:sp>
        <p:nvSpPr>
          <p:cNvPr id="14" name="Text 12"/>
          <p:cNvSpPr txBox="1"/>
          <p:nvPr/>
        </p:nvSpPr>
        <p:spPr>
          <a:xfrm>
            <a:off x="6894576" y="1817370"/>
            <a:ext cx="1554480" cy="457200"/>
          </a:xfrm>
          <a:prstGeom prst="rect">
            <a:avLst/>
          </a:prstGeom>
          <a:noFill/>
          <a:ln/>
        </p:spPr>
        <p:txBody>
          <a:bodyPr wrap="square" lIns="0" tIns="0" rIns="0" bIns="0" rtlCol="0" anchor="t"/>
          <a:lstStyle/>
          <a:p>
            <a:pPr indent="0" marL="0">
              <a:buNone/>
            </a:pPr>
            <a:r>
              <a:rPr lang="en-US" sz="1400" dirty="0">
                <a:solidFill>
                  <a:schemeClr val="tx1"/>
                </a:solidFill>
              </a:rPr>
              <a:t>tag applications</a:t>
            </a:r>
            <a:endParaRPr lang="en-US" sz="1400" dirty="0"/>
          </a:p>
        </p:txBody>
      </p:sp>
      <p:sp>
        <p:nvSpPr>
          <p:cNvPr id="15" name="Text 13"/>
          <p:cNvSpPr txBox="1"/>
          <p:nvPr/>
        </p:nvSpPr>
        <p:spPr>
          <a:xfrm>
            <a:off x="457200" y="2423160"/>
            <a:ext cx="8229600" cy="274320"/>
          </a:xfrm>
          <a:prstGeom prst="rect">
            <a:avLst/>
          </a:prstGeom>
          <a:noFill/>
          <a:ln/>
        </p:spPr>
        <p:txBody>
          <a:bodyPr wrap="square" lIns="0" tIns="0" rIns="0" bIns="0" rtlCol="0" anchor="ctr"/>
          <a:lstStyle/>
          <a:p>
            <a:pPr indent="0" marL="0">
              <a:buNone/>
            </a:pPr>
            <a:r>
              <a:rPr lang="en-US" sz="1200" dirty="0">
                <a:solidFill>
                  <a:schemeClr val="accent5"/>
                </a:solidFill>
              </a:rPr>
              <a:t>MovieLens ml-latest-small (2016 release), GroupLens Research</a:t>
            </a:r>
            <a:endParaRPr lang="en-US" sz="1200" dirty="0"/>
          </a:p>
        </p:txBody>
      </p:sp>
      <p:sp>
        <p:nvSpPr>
          <p:cNvPr id="16" name="Text 14"/>
          <p:cNvSpPr txBox="1"/>
          <p:nvPr/>
        </p:nvSpPr>
        <p:spPr>
          <a:xfrm>
            <a:off x="457200" y="2834640"/>
            <a:ext cx="2194560" cy="502920"/>
          </a:xfrm>
          <a:prstGeom prst="rect">
            <a:avLst/>
          </a:prstGeom>
          <a:noFill/>
          <a:ln/>
        </p:spPr>
        <p:txBody>
          <a:bodyPr wrap="square" lIns="0" tIns="0" rIns="0" bIns="0" rtlCol="0" anchor="t"/>
          <a:lstStyle/>
          <a:p>
            <a:pPr indent="0" marL="0">
              <a:buNone/>
            </a:pPr>
            <a:r>
              <a:rPr lang="en-US" sz="1400" b="1" dirty="0">
                <a:solidFill>
                  <a:schemeClr val="tx2"/>
                </a:solidFill>
              </a:rPr>
              <a:t>Time split per user</a:t>
            </a:r>
            <a:endParaRPr lang="en-US" sz="1400" dirty="0"/>
          </a:p>
        </p:txBody>
      </p:sp>
      <p:sp>
        <p:nvSpPr>
          <p:cNvPr id="17" name="Text 15"/>
          <p:cNvSpPr txBox="1"/>
          <p:nvPr/>
        </p:nvSpPr>
        <p:spPr>
          <a:xfrm>
            <a:off x="2651760" y="2834640"/>
            <a:ext cx="6035040" cy="502920"/>
          </a:xfrm>
          <a:prstGeom prst="rect">
            <a:avLst/>
          </a:prstGeom>
          <a:noFill/>
          <a:ln/>
        </p:spPr>
        <p:txBody>
          <a:bodyPr wrap="square" lIns="0" tIns="0" rIns="0" bIns="0" rtlCol="0" anchor="t"/>
          <a:lstStyle/>
          <a:p>
            <a:pPr indent="0" marL="0">
              <a:buNone/>
            </a:pPr>
            <a:r>
              <a:rPr lang="en-US" sz="1400" dirty="0">
                <a:solidFill>
                  <a:schemeClr val="tx1"/>
                </a:solidFill>
              </a:rPr>
              <a:t>First 80% of each user's ratings train the models. The last 20% are held out as the test.</a:t>
            </a:r>
            <a:endParaRPr lang="en-US" sz="1400" dirty="0"/>
          </a:p>
        </p:txBody>
      </p:sp>
      <p:sp>
        <p:nvSpPr>
          <p:cNvPr id="18" name="Text 16"/>
          <p:cNvSpPr txBox="1"/>
          <p:nvPr/>
        </p:nvSpPr>
        <p:spPr>
          <a:xfrm>
            <a:off x="457200" y="3401568"/>
            <a:ext cx="2194560" cy="502920"/>
          </a:xfrm>
          <a:prstGeom prst="rect">
            <a:avLst/>
          </a:prstGeom>
          <a:noFill/>
          <a:ln/>
        </p:spPr>
        <p:txBody>
          <a:bodyPr wrap="square" lIns="0" tIns="0" rIns="0" bIns="0" rtlCol="0" anchor="t"/>
          <a:lstStyle/>
          <a:p>
            <a:pPr indent="0" marL="0">
              <a:buNone/>
            </a:pPr>
            <a:r>
              <a:rPr lang="en-US" sz="1400" b="1" dirty="0">
                <a:solidFill>
                  <a:schemeClr val="tx2"/>
                </a:solidFill>
              </a:rPr>
              <a:t>What counts as a hit</a:t>
            </a:r>
            <a:endParaRPr lang="en-US" sz="1400" dirty="0"/>
          </a:p>
        </p:txBody>
      </p:sp>
      <p:sp>
        <p:nvSpPr>
          <p:cNvPr id="19" name="Text 17"/>
          <p:cNvSpPr txBox="1"/>
          <p:nvPr/>
        </p:nvSpPr>
        <p:spPr>
          <a:xfrm>
            <a:off x="2651760" y="3401568"/>
            <a:ext cx="6035040" cy="502920"/>
          </a:xfrm>
          <a:prstGeom prst="rect">
            <a:avLst/>
          </a:prstGeom>
          <a:noFill/>
          <a:ln/>
        </p:spPr>
        <p:txBody>
          <a:bodyPr wrap="square" lIns="0" tIns="0" rIns="0" bIns="0" rtlCol="0" anchor="t"/>
          <a:lstStyle/>
          <a:p>
            <a:pPr indent="0" marL="0">
              <a:buNone/>
            </a:pPr>
            <a:r>
              <a:rPr lang="en-US" sz="1400" dirty="0">
                <a:solidFill>
                  <a:schemeClr val="tx1"/>
                </a:solidFill>
              </a:rPr>
              <a:t>A held-out film rated 4 or higher. Films the user already rated in training are never recommended.</a:t>
            </a:r>
            <a:endParaRPr lang="en-US" sz="1400" dirty="0"/>
          </a:p>
        </p:txBody>
      </p:sp>
      <p:sp>
        <p:nvSpPr>
          <p:cNvPr id="20" name="Text 18"/>
          <p:cNvSpPr txBox="1"/>
          <p:nvPr/>
        </p:nvSpPr>
        <p:spPr>
          <a:xfrm>
            <a:off x="457200" y="3968496"/>
            <a:ext cx="2194560" cy="502920"/>
          </a:xfrm>
          <a:prstGeom prst="rect">
            <a:avLst/>
          </a:prstGeom>
          <a:noFill/>
          <a:ln/>
        </p:spPr>
        <p:txBody>
          <a:bodyPr wrap="square" lIns="0" tIns="0" rIns="0" bIns="0" rtlCol="0" anchor="t"/>
          <a:lstStyle/>
          <a:p>
            <a:pPr indent="0" marL="0">
              <a:buNone/>
            </a:pPr>
            <a:r>
              <a:rPr lang="en-US" sz="1400" b="1" dirty="0">
                <a:solidFill>
                  <a:schemeClr val="tx2"/>
                </a:solidFill>
              </a:rPr>
              <a:t>Baselines</a:t>
            </a:r>
            <a:endParaRPr lang="en-US" sz="1400" dirty="0"/>
          </a:p>
        </p:txBody>
      </p:sp>
      <p:sp>
        <p:nvSpPr>
          <p:cNvPr id="21" name="Text 19"/>
          <p:cNvSpPr txBox="1"/>
          <p:nvPr/>
        </p:nvSpPr>
        <p:spPr>
          <a:xfrm>
            <a:off x="2651760" y="3968496"/>
            <a:ext cx="6035040" cy="502920"/>
          </a:xfrm>
          <a:prstGeom prst="rect">
            <a:avLst/>
          </a:prstGeom>
          <a:noFill/>
          <a:ln/>
        </p:spPr>
        <p:txBody>
          <a:bodyPr wrap="square" lIns="0" tIns="0" rIns="0" bIns="0" rtlCol="0" anchor="t"/>
          <a:lstStyle/>
          <a:p>
            <a:pPr indent="0" marL="0">
              <a:buNone/>
            </a:pPr>
            <a:r>
              <a:rPr lang="en-US" sz="1400" dirty="0">
                <a:solidFill>
                  <a:schemeClr val="tx1"/>
                </a:solidFill>
              </a:rPr>
              <a:t>Popularity only, content only, collaborative only and our own hybrid with the spec weights.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From signals to a ranked row</a:t>
            </a:r>
            <a:endParaRPr lang="en-US" sz="3200" dirty="0"/>
          </a:p>
        </p:txBody>
      </p:sp>
      <p:sp>
        <p:nvSpPr>
          <p:cNvPr id="3" name="Step card 1"/>
          <p:cNvSpPr/>
          <p:nvPr/>
        </p:nvSpPr>
        <p:spPr>
          <a:xfrm>
            <a:off x="457200" y="1188720"/>
            <a:ext cx="1508760" cy="2011680"/>
          </a:xfrm>
          <a:prstGeom prst="roundRect">
            <a:avLst>
              <a:gd name="adj" fmla="val 4848"/>
            </a:avLst>
          </a:prstGeom>
          <a:solidFill>
            <a:schemeClr val="bg2"/>
          </a:solidFill>
          <a:ln/>
        </p:spPr>
      </p:sp>
      <p:sp>
        <p:nvSpPr>
          <p:cNvPr id="4" name="Step number 1"/>
          <p:cNvSpPr/>
          <p:nvPr/>
        </p:nvSpPr>
        <p:spPr>
          <a:xfrm>
            <a:off x="566928" y="1298448"/>
            <a:ext cx="384048" cy="384048"/>
          </a:xfrm>
          <a:prstGeom prst="ellipse">
            <a:avLst/>
          </a:prstGeom>
          <a:solidFill>
            <a:schemeClr val="accent1"/>
          </a:solidFill>
          <a:ln/>
        </p:spPr>
      </p:sp>
      <p:sp>
        <p:nvSpPr>
          <p:cNvPr id="5" name="Text 3"/>
          <p:cNvSpPr txBox="1"/>
          <p:nvPr/>
        </p:nvSpPr>
        <p:spPr>
          <a:xfrm>
            <a:off x="566928" y="1298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566928" y="1783080"/>
            <a:ext cx="1280160" cy="320040"/>
          </a:xfrm>
          <a:prstGeom prst="rect">
            <a:avLst/>
          </a:prstGeom>
          <a:noFill/>
          <a:ln/>
        </p:spPr>
        <p:txBody>
          <a:bodyPr wrap="square" lIns="0" tIns="0" rIns="0" bIns="0" rtlCol="0" anchor="ctr"/>
          <a:lstStyle/>
          <a:p>
            <a:pPr indent="0" marL="0">
              <a:buNone/>
            </a:pPr>
            <a:r>
              <a:rPr lang="en-US" sz="1400" b="1" dirty="0">
                <a:solidFill>
                  <a:schemeClr val="tx2"/>
                </a:solidFill>
              </a:rPr>
              <a:t>Candidates</a:t>
            </a:r>
            <a:endParaRPr lang="en-US" sz="1400" dirty="0"/>
          </a:p>
        </p:txBody>
      </p:sp>
      <p:sp>
        <p:nvSpPr>
          <p:cNvPr id="7" name="Text 5"/>
          <p:cNvSpPr txBox="1"/>
          <p:nvPr/>
        </p:nvSpPr>
        <p:spPr>
          <a:xfrm>
            <a:off x="566928" y="2121408"/>
            <a:ext cx="1280160" cy="1234440"/>
          </a:xfrm>
          <a:prstGeom prst="rect">
            <a:avLst/>
          </a:prstGeom>
          <a:noFill/>
          <a:ln/>
        </p:spPr>
        <p:txBody>
          <a:bodyPr wrap="square" lIns="0" tIns="0" rIns="0" bIns="0" rtlCol="0" anchor="t"/>
          <a:lstStyle/>
          <a:p>
            <a:pPr indent="0" marL="0">
              <a:buNone/>
            </a:pPr>
            <a:r>
              <a:rPr lang="en-US" sz="1200" dirty="0">
                <a:solidFill>
                  <a:schemeClr val="tx1"/>
                </a:solidFill>
              </a:rPr>
              <a:t>Every film with 5 or more ratings that the user has not seen</a:t>
            </a:r>
            <a:endParaRPr lang="en-US" sz="1200" dirty="0"/>
          </a:p>
        </p:txBody>
      </p:sp>
      <p:sp>
        <p:nvSpPr>
          <p:cNvPr id="8" name="Step card 2"/>
          <p:cNvSpPr/>
          <p:nvPr/>
        </p:nvSpPr>
        <p:spPr>
          <a:xfrm>
            <a:off x="2121408" y="1188720"/>
            <a:ext cx="1508760" cy="2011680"/>
          </a:xfrm>
          <a:prstGeom prst="roundRect">
            <a:avLst>
              <a:gd name="adj" fmla="val 4848"/>
            </a:avLst>
          </a:prstGeom>
          <a:solidFill>
            <a:schemeClr val="bg2"/>
          </a:solidFill>
          <a:ln/>
        </p:spPr>
      </p:sp>
      <p:sp>
        <p:nvSpPr>
          <p:cNvPr id="9" name="Step number 2"/>
          <p:cNvSpPr/>
          <p:nvPr/>
        </p:nvSpPr>
        <p:spPr>
          <a:xfrm>
            <a:off x="2231136" y="1298448"/>
            <a:ext cx="384048" cy="384048"/>
          </a:xfrm>
          <a:prstGeom prst="ellipse">
            <a:avLst/>
          </a:prstGeom>
          <a:solidFill>
            <a:schemeClr val="accent1"/>
          </a:solidFill>
          <a:ln/>
        </p:spPr>
      </p:sp>
      <p:sp>
        <p:nvSpPr>
          <p:cNvPr id="10" name="Text 8"/>
          <p:cNvSpPr txBox="1"/>
          <p:nvPr/>
        </p:nvSpPr>
        <p:spPr>
          <a:xfrm>
            <a:off x="2231136" y="1298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2231136" y="1783080"/>
            <a:ext cx="1280160" cy="320040"/>
          </a:xfrm>
          <a:prstGeom prst="rect">
            <a:avLst/>
          </a:prstGeom>
          <a:noFill/>
          <a:ln/>
        </p:spPr>
        <p:txBody>
          <a:bodyPr wrap="square" lIns="0" tIns="0" rIns="0" bIns="0" rtlCol="0" anchor="ctr"/>
          <a:lstStyle/>
          <a:p>
            <a:pPr indent="0" marL="0">
              <a:buNone/>
            </a:pPr>
            <a:r>
              <a:rPr lang="en-US" sz="1400" b="1" dirty="0">
                <a:solidFill>
                  <a:schemeClr val="tx2"/>
                </a:solidFill>
              </a:rPr>
              <a:t>Hard filters</a:t>
            </a:r>
            <a:endParaRPr lang="en-US" sz="1400" dirty="0"/>
          </a:p>
        </p:txBody>
      </p:sp>
      <p:sp>
        <p:nvSpPr>
          <p:cNvPr id="12" name="Text 10"/>
          <p:cNvSpPr txBox="1"/>
          <p:nvPr/>
        </p:nvSpPr>
        <p:spPr>
          <a:xfrm>
            <a:off x="2231136" y="2121408"/>
            <a:ext cx="1280160" cy="1234440"/>
          </a:xfrm>
          <a:prstGeom prst="rect">
            <a:avLst/>
          </a:prstGeom>
          <a:noFill/>
          <a:ln/>
        </p:spPr>
        <p:txBody>
          <a:bodyPr wrap="square" lIns="0" tIns="0" rIns="0" bIns="0" rtlCol="0" anchor="t"/>
          <a:lstStyle/>
          <a:p>
            <a:pPr indent="0" marL="0">
              <a:buNone/>
            </a:pPr>
            <a:r>
              <a:rPr lang="en-US" sz="1200" dirty="0">
                <a:solidFill>
                  <a:schemeClr val="tx1"/>
                </a:solidFill>
              </a:rPr>
              <a:t>Disliked, seen and avoided-genre films are removed</a:t>
            </a:r>
            <a:endParaRPr lang="en-US" sz="1200" dirty="0"/>
          </a:p>
        </p:txBody>
      </p:sp>
      <p:sp>
        <p:nvSpPr>
          <p:cNvPr id="13" name="Step card 3"/>
          <p:cNvSpPr/>
          <p:nvPr/>
        </p:nvSpPr>
        <p:spPr>
          <a:xfrm>
            <a:off x="3785616" y="1188720"/>
            <a:ext cx="1508760" cy="2011680"/>
          </a:xfrm>
          <a:prstGeom prst="roundRect">
            <a:avLst>
              <a:gd name="adj" fmla="val 4848"/>
            </a:avLst>
          </a:prstGeom>
          <a:solidFill>
            <a:schemeClr val="bg2"/>
          </a:solidFill>
          <a:ln/>
        </p:spPr>
      </p:sp>
      <p:sp>
        <p:nvSpPr>
          <p:cNvPr id="14" name="Step number 3"/>
          <p:cNvSpPr/>
          <p:nvPr/>
        </p:nvSpPr>
        <p:spPr>
          <a:xfrm>
            <a:off x="3895344" y="1298448"/>
            <a:ext cx="384048" cy="384048"/>
          </a:xfrm>
          <a:prstGeom prst="ellipse">
            <a:avLst/>
          </a:prstGeom>
          <a:solidFill>
            <a:schemeClr val="accent1"/>
          </a:solidFill>
          <a:ln/>
        </p:spPr>
      </p:sp>
      <p:sp>
        <p:nvSpPr>
          <p:cNvPr id="15" name="Text 13"/>
          <p:cNvSpPr txBox="1"/>
          <p:nvPr/>
        </p:nvSpPr>
        <p:spPr>
          <a:xfrm>
            <a:off x="3895344" y="1298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3895344" y="1783080"/>
            <a:ext cx="1280160" cy="320040"/>
          </a:xfrm>
          <a:prstGeom prst="rect">
            <a:avLst/>
          </a:prstGeom>
          <a:noFill/>
          <a:ln/>
        </p:spPr>
        <p:txBody>
          <a:bodyPr wrap="square" lIns="0" tIns="0" rIns="0" bIns="0" rtlCol="0" anchor="ctr"/>
          <a:lstStyle/>
          <a:p>
            <a:pPr indent="0" marL="0">
              <a:buNone/>
            </a:pPr>
            <a:r>
              <a:rPr lang="en-US" sz="1400" b="1" dirty="0">
                <a:solidFill>
                  <a:schemeClr val="tx2"/>
                </a:solidFill>
              </a:rPr>
              <a:t>Score</a:t>
            </a:r>
            <a:endParaRPr lang="en-US" sz="1400" dirty="0"/>
          </a:p>
        </p:txBody>
      </p:sp>
      <p:sp>
        <p:nvSpPr>
          <p:cNvPr id="17" name="Text 15"/>
          <p:cNvSpPr txBox="1"/>
          <p:nvPr/>
        </p:nvSpPr>
        <p:spPr>
          <a:xfrm>
            <a:off x="3895344" y="2121408"/>
            <a:ext cx="1280160" cy="1234440"/>
          </a:xfrm>
          <a:prstGeom prst="rect">
            <a:avLst/>
          </a:prstGeom>
          <a:noFill/>
          <a:ln/>
        </p:spPr>
        <p:txBody>
          <a:bodyPr wrap="square" lIns="0" tIns="0" rIns="0" bIns="0" rtlCol="0" anchor="t"/>
          <a:lstStyle/>
          <a:p>
            <a:pPr indent="0" marL="0">
              <a:buNone/>
            </a:pPr>
            <a:r>
              <a:rPr lang="en-US" sz="1200" dirty="0">
                <a:solidFill>
                  <a:schemeClr val="tx1"/>
                </a:solidFill>
              </a:rPr>
              <a:t>Six signals times the stage weights, minus a repeat penalty</a:t>
            </a:r>
            <a:endParaRPr lang="en-US" sz="1200" dirty="0"/>
          </a:p>
        </p:txBody>
      </p:sp>
      <p:sp>
        <p:nvSpPr>
          <p:cNvPr id="18" name="Step card 4"/>
          <p:cNvSpPr/>
          <p:nvPr/>
        </p:nvSpPr>
        <p:spPr>
          <a:xfrm>
            <a:off x="5449824" y="1188720"/>
            <a:ext cx="1508760" cy="2011680"/>
          </a:xfrm>
          <a:prstGeom prst="roundRect">
            <a:avLst>
              <a:gd name="adj" fmla="val 4848"/>
            </a:avLst>
          </a:prstGeom>
          <a:solidFill>
            <a:schemeClr val="bg2"/>
          </a:solidFill>
          <a:ln/>
        </p:spPr>
      </p:sp>
      <p:sp>
        <p:nvSpPr>
          <p:cNvPr id="19" name="Step number 4"/>
          <p:cNvSpPr/>
          <p:nvPr/>
        </p:nvSpPr>
        <p:spPr>
          <a:xfrm>
            <a:off x="5559552" y="1298448"/>
            <a:ext cx="384048" cy="384048"/>
          </a:xfrm>
          <a:prstGeom prst="ellipse">
            <a:avLst/>
          </a:prstGeom>
          <a:solidFill>
            <a:schemeClr val="accent1"/>
          </a:solidFill>
          <a:ln/>
        </p:spPr>
      </p:sp>
      <p:sp>
        <p:nvSpPr>
          <p:cNvPr id="20" name="Text 18"/>
          <p:cNvSpPr txBox="1"/>
          <p:nvPr/>
        </p:nvSpPr>
        <p:spPr>
          <a:xfrm>
            <a:off x="5559552" y="1298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5559552" y="1783080"/>
            <a:ext cx="1280160" cy="320040"/>
          </a:xfrm>
          <a:prstGeom prst="rect">
            <a:avLst/>
          </a:prstGeom>
          <a:noFill/>
          <a:ln/>
        </p:spPr>
        <p:txBody>
          <a:bodyPr wrap="square" lIns="0" tIns="0" rIns="0" bIns="0" rtlCol="0" anchor="ctr"/>
          <a:lstStyle/>
          <a:p>
            <a:pPr indent="0" marL="0">
              <a:buNone/>
            </a:pPr>
            <a:r>
              <a:rPr lang="en-US" sz="1400" b="1" dirty="0">
                <a:solidFill>
                  <a:schemeClr val="tx2"/>
                </a:solidFill>
              </a:rPr>
              <a:t>MMR re-rank</a:t>
            </a:r>
            <a:endParaRPr lang="en-US" sz="1400" dirty="0"/>
          </a:p>
        </p:txBody>
      </p:sp>
      <p:sp>
        <p:nvSpPr>
          <p:cNvPr id="22" name="Text 20"/>
          <p:cNvSpPr txBox="1"/>
          <p:nvPr/>
        </p:nvSpPr>
        <p:spPr>
          <a:xfrm>
            <a:off x="5559552" y="2121408"/>
            <a:ext cx="1280160" cy="1234440"/>
          </a:xfrm>
          <a:prstGeom prst="rect">
            <a:avLst/>
          </a:prstGeom>
          <a:noFill/>
          <a:ln/>
        </p:spPr>
        <p:txBody>
          <a:bodyPr wrap="square" lIns="0" tIns="0" rIns="0" bIns="0" rtlCol="0" anchor="t"/>
          <a:lstStyle/>
          <a:p>
            <a:pPr indent="0" marL="0">
              <a:buNone/>
            </a:pPr>
            <a:r>
              <a:rPr lang="en-US" sz="1200" dirty="0">
                <a:solidFill>
                  <a:schemeClr val="tx1"/>
                </a:solidFill>
              </a:rPr>
              <a:t>Score minus similarity to films already in the row; no genre above 50%</a:t>
            </a:r>
            <a:endParaRPr lang="en-US" sz="1200" dirty="0"/>
          </a:p>
        </p:txBody>
      </p:sp>
      <p:sp>
        <p:nvSpPr>
          <p:cNvPr id="23" name="Step card 5"/>
          <p:cNvSpPr/>
          <p:nvPr/>
        </p:nvSpPr>
        <p:spPr>
          <a:xfrm>
            <a:off x="7114032" y="1188720"/>
            <a:ext cx="1508760" cy="2011680"/>
          </a:xfrm>
          <a:prstGeom prst="roundRect">
            <a:avLst>
              <a:gd name="adj" fmla="val 4848"/>
            </a:avLst>
          </a:prstGeom>
          <a:solidFill>
            <a:schemeClr val="bg2"/>
          </a:solidFill>
          <a:ln/>
        </p:spPr>
      </p:sp>
      <p:sp>
        <p:nvSpPr>
          <p:cNvPr id="24" name="Step number 5"/>
          <p:cNvSpPr/>
          <p:nvPr/>
        </p:nvSpPr>
        <p:spPr>
          <a:xfrm>
            <a:off x="7223760" y="1298448"/>
            <a:ext cx="384048" cy="384048"/>
          </a:xfrm>
          <a:prstGeom prst="ellipse">
            <a:avLst/>
          </a:prstGeom>
          <a:solidFill>
            <a:schemeClr val="accent1"/>
          </a:solidFill>
          <a:ln/>
        </p:spPr>
      </p:sp>
      <p:sp>
        <p:nvSpPr>
          <p:cNvPr id="25" name="Text 23"/>
          <p:cNvSpPr txBox="1"/>
          <p:nvPr/>
        </p:nvSpPr>
        <p:spPr>
          <a:xfrm>
            <a:off x="7223760" y="1298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7223760" y="1783080"/>
            <a:ext cx="1280160" cy="320040"/>
          </a:xfrm>
          <a:prstGeom prst="rect">
            <a:avLst/>
          </a:prstGeom>
          <a:noFill/>
          <a:ln/>
        </p:spPr>
        <p:txBody>
          <a:bodyPr wrap="square" lIns="0" tIns="0" rIns="0" bIns="0" rtlCol="0" anchor="ctr"/>
          <a:lstStyle/>
          <a:p>
            <a:pPr indent="0" marL="0">
              <a:buNone/>
            </a:pPr>
            <a:r>
              <a:rPr lang="en-US" sz="1400" b="1" dirty="0">
                <a:solidFill>
                  <a:schemeClr val="tx2"/>
                </a:solidFill>
              </a:rPr>
              <a:t>Explain</a:t>
            </a:r>
            <a:endParaRPr lang="en-US" sz="1400" dirty="0"/>
          </a:p>
        </p:txBody>
      </p:sp>
      <p:sp>
        <p:nvSpPr>
          <p:cNvPr id="27" name="Text 25"/>
          <p:cNvSpPr txBox="1"/>
          <p:nvPr/>
        </p:nvSpPr>
        <p:spPr>
          <a:xfrm>
            <a:off x="7223760" y="2121408"/>
            <a:ext cx="1280160" cy="1234440"/>
          </a:xfrm>
          <a:prstGeom prst="rect">
            <a:avLst/>
          </a:prstGeom>
          <a:noFill/>
          <a:ln/>
        </p:spPr>
        <p:txBody>
          <a:bodyPr wrap="square" lIns="0" tIns="0" rIns="0" bIns="0" rtlCol="0" anchor="t"/>
          <a:lstStyle/>
          <a:p>
            <a:pPr indent="0" marL="0">
              <a:buNone/>
            </a:pPr>
            <a:r>
              <a:rPr lang="en-US" sz="1200" dirty="0">
                <a:solidFill>
                  <a:schemeClr val="tx1"/>
                </a:solidFill>
              </a:rPr>
              <a:t>The top two signals fill a reason template</a:t>
            </a:r>
            <a:endParaRPr lang="en-US" sz="1200" dirty="0"/>
          </a:p>
        </p:txBody>
      </p:sp>
      <p:sp>
        <p:nvSpPr>
          <p:cNvPr id="28" name="Dial card"/>
          <p:cNvSpPr/>
          <p:nvPr/>
        </p:nvSpPr>
        <p:spPr>
          <a:xfrm>
            <a:off x="457200" y="3474720"/>
            <a:ext cx="8229600" cy="914400"/>
          </a:xfrm>
          <a:prstGeom prst="roundRect">
            <a:avLst>
              <a:gd name="adj" fmla="val 8000"/>
            </a:avLst>
          </a:prstGeom>
          <a:solidFill>
            <a:schemeClr val="bg2"/>
          </a:solidFill>
          <a:ln/>
        </p:spPr>
      </p:sp>
      <p:sp>
        <p:nvSpPr>
          <p:cNvPr id="29" name="Text 27"/>
          <p:cNvSpPr txBox="1"/>
          <p:nvPr/>
        </p:nvSpPr>
        <p:spPr>
          <a:xfrm>
            <a:off x="640080" y="3474720"/>
            <a:ext cx="7863840" cy="914400"/>
          </a:xfrm>
          <a:prstGeom prst="rect">
            <a:avLst/>
          </a:prstGeom>
          <a:noFill/>
          <a:ln/>
        </p:spPr>
        <p:txBody>
          <a:bodyPr wrap="square" lIns="0" tIns="0" rIns="0" bIns="0" rtlCol="0" anchor="ctr"/>
          <a:lstStyle/>
          <a:p>
            <a:pPr indent="0" marL="0">
              <a:buNone/>
            </a:pPr>
            <a:r>
              <a:rPr lang="en-US" sz="1400" b="1" dirty="0">
                <a:solidFill>
                  <a:schemeClr val="accent1"/>
                </a:solidFill>
              </a:rPr>
              <a:t>Discovery dial: </a:t>
            </a:r>
            <a:pPr indent="0" marL="0">
              <a:buNone/>
            </a:pPr>
            <a:r>
              <a:rPr lang="en-US" sz="1400" dirty="0">
                <a:solidFill>
                  <a:schemeClr val="tx1"/>
                </a:solidFill>
              </a:rPr>
              <a:t>Comfort zone uses MMR lambda 0.85, A little different 0.70, Surprise me 0.55, and raises the discovery weight from 0.05 to 0.10 to 0.20.</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Weights by profile stage</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1005840"/>
                <a:gridCol w="1371600"/>
                <a:gridCol w="1371600"/>
                <a:gridCol w="1463040"/>
                <a:gridCol w="1463040"/>
              </a:tblGrid>
              <a:tr h="329184">
                <a:tc>
                  <a:txBody>
                    <a:bodyPr/>
                    <a:lstStyle/>
                    <a:p>
                      <a:pPr indent="0" marL="0">
                        <a:buNone/>
                      </a:pPr>
                      <a:r>
                        <a:rPr lang="en-US" sz="1200" b="1" dirty="0">
                          <a:solidFill>
                            <a:schemeClr val="bg1"/>
                          </a:solidFill>
                        </a:rPr>
                        <a:t>Signal</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Cold</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Warming (spec)</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Warming (tuned)</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Established (spec)</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Established (tuned)</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r>
              <a:tr h="329184">
                <a:tc>
                  <a:txBody>
                    <a:bodyPr/>
                    <a:lstStyle/>
                    <a:p>
                      <a:pPr indent="0" marL="0">
                        <a:buNone/>
                      </a:pPr>
                      <a:r>
                        <a:rPr lang="en-US" sz="1200" b="1" dirty="0">
                          <a:solidFill>
                            <a:schemeClr val="tx2"/>
                          </a:solidFill>
                        </a:rPr>
                        <a:t>Preference</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.13</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.098</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2"/>
                          </a:solidFill>
                        </a:rPr>
                        <a:t>Content</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.057</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.065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2"/>
                          </a:solidFill>
                        </a:rPr>
                        <a:t>Collaborative</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.424</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.448</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2"/>
                          </a:solidFill>
                        </a:rPr>
                        <a:t>Context</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2"/>
                          </a:solidFill>
                        </a:rPr>
                        <a:t>Quality</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.139</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.139</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2"/>
                          </a:solidFill>
                        </a:rPr>
                        <a:t>Discovery</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457200" y="3657600"/>
            <a:ext cx="8229600" cy="868680"/>
          </a:xfrm>
          <a:prstGeom prst="rect">
            <a:avLst/>
          </a:prstGeom>
          <a:noFill/>
          <a:ln/>
        </p:spPr>
        <p:txBody>
          <a:bodyPr wrap="square" lIns="0" tIns="0" rIns="0" bIns="0" rtlCol="0" anchor="t"/>
          <a:lstStyle/>
          <a:p>
            <a:pPr indent="0" marL="0">
              <a:buNone/>
            </a:pPr>
            <a:r>
              <a:rPr lang="en-US" sz="1400" dirty="0">
                <a:solidFill>
                  <a:schemeClr val="tx1"/>
                </a:solidFill>
              </a:rPr>
              <a:t>The spec weights were starting values. We tuned the warming and established columns by random search on a validation slice cut from the training data, never the test set. Quality is capped at 0.15 and every signal keeps at least 0.05. The cold stage has no data to tune on, so it keeps the spec values.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Results: users with history</a:t>
            </a:r>
            <a:endParaRPr lang="en-US" sz="3200" dirty="0"/>
          </a:p>
        </p:txBody>
      </p:sp>
      <p:sp>
        <p:nvSpPr>
          <p:cNvPr id="3" name="Text 1"/>
          <p:cNvSpPr txBox="1"/>
          <p:nvPr/>
        </p:nvSpPr>
        <p:spPr>
          <a:xfrm>
            <a:off x="457200" y="1051560"/>
            <a:ext cx="5303520" cy="274320"/>
          </a:xfrm>
          <a:prstGeom prst="rect">
            <a:avLst/>
          </a:prstGeom>
          <a:noFill/>
          <a:ln/>
        </p:spPr>
        <p:txBody>
          <a:bodyPr wrap="square" lIns="0" tIns="0" rIns="0" bIns="0" rtlCol="0" anchor="ctr"/>
          <a:lstStyle/>
          <a:p>
            <a:pPr indent="0" marL="0">
              <a:buNone/>
            </a:pPr>
            <a:r>
              <a:rPr lang="en-US" sz="1200" dirty="0">
                <a:solidFill>
                  <a:schemeClr val="accent5"/>
                </a:solidFill>
              </a:rPr>
              <a:t>NDCG@10 on the held-out last 20% (585 users)</a:t>
            </a:r>
            <a:endParaRPr lang="en-US" sz="1200" dirty="0"/>
          </a:p>
        </p:txBody>
      </p:sp>
      <p:graphicFrame>
        <p:nvGraphicFramePr>
          <p:cNvPr id="4" name="Chart 0" descr=""/>
          <p:cNvGraphicFramePr/>
          <p:nvPr/>
        </p:nvGraphicFramePr>
        <p:xfrm>
          <a:off x="365760" y="1280160"/>
          <a:ext cx="5486400" cy="3383280"/>
        </p:xfrm>
        <a:graphic xmlns:a="http://schemas.openxmlformats.org/drawingml/2006/main">
          <a:graphicData uri="http://schemas.openxmlformats.org/drawingml/2006/chart">
            <c:chart xmlns:c="http://schemas.openxmlformats.org/drawingml/2006/chart" r:id="rId1"/>
          </a:graphicData>
        </a:graphic>
      </p:graphicFrame>
      <p:sp>
        <p:nvSpPr>
          <p:cNvPr id="5" name="Callout card"/>
          <p:cNvSpPr/>
          <p:nvPr/>
        </p:nvSpPr>
        <p:spPr>
          <a:xfrm>
            <a:off x="6035040" y="1188720"/>
            <a:ext cx="2651760" cy="1051560"/>
          </a:xfrm>
          <a:prstGeom prst="roundRect">
            <a:avLst>
              <a:gd name="adj" fmla="val 6957"/>
            </a:avLst>
          </a:prstGeom>
          <a:solidFill>
            <a:schemeClr val="bg2"/>
          </a:solidFill>
          <a:ln/>
        </p:spPr>
      </p:sp>
      <p:sp>
        <p:nvSpPr>
          <p:cNvPr id="6" name="Text 3"/>
          <p:cNvSpPr txBox="1"/>
          <p:nvPr/>
        </p:nvSpPr>
        <p:spPr>
          <a:xfrm>
            <a:off x="6217920" y="1261872"/>
            <a:ext cx="2286000" cy="5257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+47%</a:t>
            </a:r>
            <a:endParaRPr lang="en-US" sz="3400" dirty="0"/>
          </a:p>
        </p:txBody>
      </p:sp>
      <p:sp>
        <p:nvSpPr>
          <p:cNvPr id="7" name="Text 4"/>
          <p:cNvSpPr txBox="1"/>
          <p:nvPr/>
        </p:nvSpPr>
        <p:spPr>
          <a:xfrm>
            <a:off x="6217920" y="1767078"/>
            <a:ext cx="2286000" cy="420624"/>
          </a:xfrm>
          <a:prstGeom prst="rect">
            <a:avLst/>
          </a:prstGeom>
          <a:noFill/>
          <a:ln/>
        </p:spPr>
        <p:txBody>
          <a:bodyPr wrap="square" lIns="0" tIns="0" rIns="0" bIns="0" rtlCol="0" anchor="t"/>
          <a:lstStyle/>
          <a:p>
            <a:pPr indent="0" marL="0">
              <a:buNone/>
            </a:pPr>
            <a:r>
              <a:rPr lang="en-US" sz="1200" dirty="0">
                <a:solidFill>
                  <a:schemeClr val="tx1"/>
                </a:solidFill>
              </a:rPr>
              <a:t>NDCG@10 vs popularity (paired t-test p &lt; 0.001). Recall@10 +44%</a:t>
            </a:r>
            <a:endParaRPr lang="en-US" sz="1200" dirty="0"/>
          </a:p>
        </p:txBody>
      </p:sp>
      <p:sp>
        <p:nvSpPr>
          <p:cNvPr id="8" name="Callout card"/>
          <p:cNvSpPr/>
          <p:nvPr/>
        </p:nvSpPr>
        <p:spPr>
          <a:xfrm>
            <a:off x="6035040" y="2377440"/>
            <a:ext cx="2651760" cy="1051560"/>
          </a:xfrm>
          <a:prstGeom prst="roundRect">
            <a:avLst>
              <a:gd name="adj" fmla="val 6957"/>
            </a:avLst>
          </a:prstGeom>
          <a:solidFill>
            <a:schemeClr val="bg2"/>
          </a:solidFill>
          <a:ln/>
        </p:spPr>
      </p:sp>
      <p:sp>
        <p:nvSpPr>
          <p:cNvPr id="9" name="Text 6"/>
          <p:cNvSpPr txBox="1"/>
          <p:nvPr/>
        </p:nvSpPr>
        <p:spPr>
          <a:xfrm>
            <a:off x="6217920" y="2450592"/>
            <a:ext cx="2286000" cy="5257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a:t>
            </a:r>
            <a:endParaRPr lang="en-US" sz="3400" dirty="0"/>
          </a:p>
        </p:txBody>
      </p:sp>
      <p:sp>
        <p:nvSpPr>
          <p:cNvPr id="10" name="Text 7"/>
          <p:cNvSpPr txBox="1"/>
          <p:nvPr/>
        </p:nvSpPr>
        <p:spPr>
          <a:xfrm>
            <a:off x="6217920" y="2955798"/>
            <a:ext cx="2286000" cy="420624"/>
          </a:xfrm>
          <a:prstGeom prst="rect">
            <a:avLst/>
          </a:prstGeom>
          <a:noFill/>
          <a:ln/>
        </p:spPr>
        <p:txBody>
          <a:bodyPr wrap="square" lIns="0" tIns="0" rIns="0" bIns="0" rtlCol="0" anchor="t"/>
          <a:lstStyle/>
          <a:p>
            <a:pPr indent="0" marL="0">
              <a:buNone/>
            </a:pPr>
            <a:r>
              <a:rPr lang="en-US" sz="1200" dirty="0">
                <a:solidFill>
                  <a:schemeClr val="tx1"/>
                </a:solidFill>
              </a:rPr>
              <a:t>vs collaborative only. No real difference (p = 0.63)</a:t>
            </a:r>
            <a:endParaRPr lang="en-US" sz="1200" dirty="0"/>
          </a:p>
        </p:txBody>
      </p:sp>
      <p:sp>
        <p:nvSpPr>
          <p:cNvPr id="11" name="Callout card"/>
          <p:cNvSpPr/>
          <p:nvPr/>
        </p:nvSpPr>
        <p:spPr>
          <a:xfrm>
            <a:off x="6035040" y="3566160"/>
            <a:ext cx="2651760" cy="1051560"/>
          </a:xfrm>
          <a:prstGeom prst="roundRect">
            <a:avLst>
              <a:gd name="adj" fmla="val 6957"/>
            </a:avLst>
          </a:prstGeom>
          <a:solidFill>
            <a:schemeClr val="bg2"/>
          </a:solidFill>
          <a:ln/>
        </p:spPr>
      </p:sp>
      <p:sp>
        <p:nvSpPr>
          <p:cNvPr id="12" name="Text 9"/>
          <p:cNvSpPr txBox="1"/>
          <p:nvPr/>
        </p:nvSpPr>
        <p:spPr>
          <a:xfrm>
            <a:off x="6217920" y="3639312"/>
            <a:ext cx="2286000" cy="5257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0.052</a:t>
            </a:r>
            <a:endParaRPr lang="en-US" sz="3400" dirty="0"/>
          </a:p>
        </p:txBody>
      </p:sp>
      <p:sp>
        <p:nvSpPr>
          <p:cNvPr id="13" name="Text 10"/>
          <p:cNvSpPr txBox="1"/>
          <p:nvPr/>
        </p:nvSpPr>
        <p:spPr>
          <a:xfrm>
            <a:off x="6217920" y="4144518"/>
            <a:ext cx="2286000" cy="420624"/>
          </a:xfrm>
          <a:prstGeom prst="rect">
            <a:avLst/>
          </a:prstGeom>
          <a:noFill/>
          <a:ln/>
        </p:spPr>
        <p:txBody>
          <a:bodyPr wrap="square" lIns="0" tIns="0" rIns="0" bIns="0" rtlCol="0" anchor="t"/>
          <a:lstStyle/>
          <a:p>
            <a:pPr indent="0" marL="0">
              <a:buNone/>
            </a:pPr>
            <a:r>
              <a:rPr lang="en-US" sz="1200" dirty="0">
                <a:solidFill>
                  <a:schemeClr val="tx1"/>
                </a:solidFill>
              </a:rPr>
              <a:t>NDCG@10 with the untuned spec weights, below popularity</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Results: cold start</a:t>
            </a:r>
            <a:endParaRPr lang="en-US" sz="3200" dirty="0"/>
          </a:p>
        </p:txBody>
      </p:sp>
      <p:sp>
        <p:nvSpPr>
          <p:cNvPr id="3" name="Text 1"/>
          <p:cNvSpPr txBox="1"/>
          <p:nvPr/>
        </p:nvSpPr>
        <p:spPr>
          <a:xfrm>
            <a:off x="457200" y="1051560"/>
            <a:ext cx="5303520" cy="274320"/>
          </a:xfrm>
          <a:prstGeom prst="rect">
            <a:avLst/>
          </a:prstGeom>
          <a:noFill/>
          <a:ln/>
        </p:spPr>
        <p:txBody>
          <a:bodyPr wrap="square" lIns="0" tIns="0" rIns="0" bIns="0" rtlCol="0" anchor="ctr"/>
          <a:lstStyle/>
          <a:p>
            <a:pPr indent="0" marL="0">
              <a:buNone/>
            </a:pPr>
            <a:r>
              <a:rPr lang="en-US" sz="1200" dirty="0">
                <a:solidFill>
                  <a:schemeClr val="accent5"/>
                </a:solidFill>
              </a:rPr>
              <a:t>NDCG@10 using only 5 favourites and their top 3 genres (581 users)</a:t>
            </a:r>
            <a:endParaRPr lang="en-US" sz="1200" dirty="0"/>
          </a:p>
        </p:txBody>
      </p:sp>
      <p:graphicFrame>
        <p:nvGraphicFramePr>
          <p:cNvPr id="4" name="Chart 0" descr=""/>
          <p:cNvGraphicFramePr/>
          <p:nvPr/>
        </p:nvGraphicFramePr>
        <p:xfrm>
          <a:off x="365760" y="1280160"/>
          <a:ext cx="5486400" cy="3383280"/>
        </p:xfrm>
        <a:graphic xmlns:a="http://schemas.openxmlformats.org/drawingml/2006/main">
          <a:graphicData uri="http://schemas.openxmlformats.org/drawingml/2006/chart">
            <c:chart xmlns:c="http://schemas.openxmlformats.org/drawingml/2006/chart" r:id="rId1"/>
          </a:graphicData>
        </a:graphic>
      </p:graphicFrame>
      <p:sp>
        <p:nvSpPr>
          <p:cNvPr id="5" name="Callout card"/>
          <p:cNvSpPr/>
          <p:nvPr/>
        </p:nvSpPr>
        <p:spPr>
          <a:xfrm>
            <a:off x="6035040" y="1188720"/>
            <a:ext cx="2651760" cy="1051560"/>
          </a:xfrm>
          <a:prstGeom prst="roundRect">
            <a:avLst>
              <a:gd name="adj" fmla="val 6957"/>
            </a:avLst>
          </a:prstGeom>
          <a:solidFill>
            <a:schemeClr val="bg2"/>
          </a:solidFill>
          <a:ln/>
        </p:spPr>
      </p:sp>
      <p:sp>
        <p:nvSpPr>
          <p:cNvPr id="6" name="Text 3"/>
          <p:cNvSpPr txBox="1"/>
          <p:nvPr/>
        </p:nvSpPr>
        <p:spPr>
          <a:xfrm>
            <a:off x="6217920" y="1261872"/>
            <a:ext cx="2286000" cy="5257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+27%</a:t>
            </a:r>
            <a:endParaRPr lang="en-US" sz="3400" dirty="0"/>
          </a:p>
        </p:txBody>
      </p:sp>
      <p:sp>
        <p:nvSpPr>
          <p:cNvPr id="7" name="Text 4"/>
          <p:cNvSpPr txBox="1"/>
          <p:nvPr/>
        </p:nvSpPr>
        <p:spPr>
          <a:xfrm>
            <a:off x="6217920" y="1767078"/>
            <a:ext cx="2286000" cy="420624"/>
          </a:xfrm>
          <a:prstGeom prst="rect">
            <a:avLst/>
          </a:prstGeom>
          <a:noFill/>
          <a:ln/>
        </p:spPr>
        <p:txBody>
          <a:bodyPr wrap="square" lIns="0" tIns="0" rIns="0" bIns="0" rtlCol="0" anchor="t"/>
          <a:lstStyle/>
          <a:p>
            <a:pPr indent="0" marL="0">
              <a:buNone/>
            </a:pPr>
            <a:r>
              <a:rPr lang="en-US" sz="1200" dirty="0">
                <a:solidFill>
                  <a:schemeClr val="tx1"/>
                </a:solidFill>
              </a:rPr>
              <a:t>NDCG@10 vs popularity (p = 0.002). Our spec target was +15%</a:t>
            </a:r>
            <a:endParaRPr lang="en-US" sz="1200" dirty="0"/>
          </a:p>
        </p:txBody>
      </p:sp>
      <p:sp>
        <p:nvSpPr>
          <p:cNvPr id="8" name="Callout card"/>
          <p:cNvSpPr/>
          <p:nvPr/>
        </p:nvSpPr>
        <p:spPr>
          <a:xfrm>
            <a:off x="6035040" y="2377440"/>
            <a:ext cx="2651760" cy="1051560"/>
          </a:xfrm>
          <a:prstGeom prst="roundRect">
            <a:avLst>
              <a:gd name="adj" fmla="val 6957"/>
            </a:avLst>
          </a:prstGeom>
          <a:solidFill>
            <a:schemeClr val="bg2"/>
          </a:solidFill>
          <a:ln/>
        </p:spPr>
      </p:sp>
      <p:sp>
        <p:nvSpPr>
          <p:cNvPr id="9" name="Text 6"/>
          <p:cNvSpPr txBox="1"/>
          <p:nvPr/>
        </p:nvSpPr>
        <p:spPr>
          <a:xfrm>
            <a:off x="6217920" y="2450592"/>
            <a:ext cx="2286000" cy="5257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10x</a:t>
            </a:r>
            <a:endParaRPr lang="en-US" sz="3400" dirty="0"/>
          </a:p>
        </p:txBody>
      </p:sp>
      <p:sp>
        <p:nvSpPr>
          <p:cNvPr id="10" name="Text 7"/>
          <p:cNvSpPr txBox="1"/>
          <p:nvPr/>
        </p:nvSpPr>
        <p:spPr>
          <a:xfrm>
            <a:off x="6217920" y="2955798"/>
            <a:ext cx="2286000" cy="420624"/>
          </a:xfrm>
          <a:prstGeom prst="rect">
            <a:avLst/>
          </a:prstGeom>
          <a:noFill/>
          <a:ln/>
        </p:spPr>
        <p:txBody>
          <a:bodyPr wrap="square" lIns="0" tIns="0" rIns="0" bIns="0" rtlCol="0" anchor="t"/>
          <a:lstStyle/>
          <a:p>
            <a:pPr indent="0" marL="0">
              <a:buNone/>
            </a:pPr>
            <a:r>
              <a:rPr lang="en-US" sz="1200" dirty="0">
                <a:solidFill>
                  <a:schemeClr val="tx1"/>
                </a:solidFill>
              </a:rPr>
              <a:t>the content-only baseline, which has little to work with from 5 films</a:t>
            </a:r>
            <a:endParaRPr lang="en-US" sz="1200" dirty="0"/>
          </a:p>
        </p:txBody>
      </p:sp>
      <p:sp>
        <p:nvSpPr>
          <p:cNvPr id="11" name="Callout card"/>
          <p:cNvSpPr/>
          <p:nvPr/>
        </p:nvSpPr>
        <p:spPr>
          <a:xfrm>
            <a:off x="6035040" y="3566160"/>
            <a:ext cx="2651760" cy="1051560"/>
          </a:xfrm>
          <a:prstGeom prst="roundRect">
            <a:avLst>
              <a:gd name="adj" fmla="val 6957"/>
            </a:avLst>
          </a:prstGeom>
          <a:solidFill>
            <a:schemeClr val="bg2"/>
          </a:solidFill>
          <a:ln/>
        </p:spPr>
      </p:sp>
      <p:sp>
        <p:nvSpPr>
          <p:cNvPr id="12" name="Text 9"/>
          <p:cNvSpPr txBox="1"/>
          <p:nvPr/>
        </p:nvSpPr>
        <p:spPr>
          <a:xfrm>
            <a:off x="6217920" y="3639312"/>
            <a:ext cx="2286000" cy="5257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5 films</a:t>
            </a:r>
            <a:endParaRPr lang="en-US" sz="3400" dirty="0"/>
          </a:p>
        </p:txBody>
      </p:sp>
      <p:sp>
        <p:nvSpPr>
          <p:cNvPr id="13" name="Text 10"/>
          <p:cNvSpPr txBox="1"/>
          <p:nvPr/>
        </p:nvSpPr>
        <p:spPr>
          <a:xfrm>
            <a:off x="6217920" y="4144518"/>
            <a:ext cx="2286000" cy="420624"/>
          </a:xfrm>
          <a:prstGeom prst="rect">
            <a:avLst/>
          </a:prstGeom>
          <a:noFill/>
          <a:ln/>
        </p:spPr>
        <p:txBody>
          <a:bodyPr wrap="square" lIns="0" tIns="0" rIns="0" bIns="0" rtlCol="0" anchor="t"/>
          <a:lstStyle/>
          <a:p>
            <a:pPr indent="0" marL="0">
              <a:buNone/>
            </a:pPr>
            <a:r>
              <a:rPr lang="en-US" sz="1200" dirty="0">
                <a:solidFill>
                  <a:schemeClr val="tx1"/>
                </a:solidFill>
              </a:rPr>
              <a:t>is all the model knows about each user here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Accuracy against variety</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017520"/>
                <a:gridCol w="1737360"/>
                <a:gridCol w="1737360"/>
                <a:gridCol w="1737360"/>
              </a:tblGrid>
              <a:tr h="365760">
                <a:tc>
                  <a:txBody>
                    <a:bodyPr/>
                    <a:lstStyle/>
                    <a:p>
                      <a:pPr indent="0" marL="0">
                        <a:buNone/>
                      </a:pPr>
                      <a:r>
                        <a:rPr lang="en-US" sz="1200" b="1" dirty="0">
                          <a:solidFill>
                            <a:schemeClr val="bg1"/>
                          </a:solidFill>
                        </a:rPr>
                        <a:t>Method (full history)</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NDCG@10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Genre diversity</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Catalog coverage</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r>
              <a:tr h="365760">
                <a:tc>
                  <a:txBody>
                    <a:bodyPr/>
                    <a:lstStyle/>
                    <a:p>
                      <a:pPr indent="0" marL="0">
                        <a:buNone/>
                      </a:pPr>
                      <a:r>
                        <a:rPr lang="en-US" sz="1200" dirty="0">
                          <a:solidFill>
                            <a:schemeClr val="tx2"/>
                          </a:solidFill>
                        </a:rPr>
                        <a:t>Popularity only</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rgbClr val="000000"/>
                          </a:solidFill>
                        </a:rPr>
                        <a:t>0.065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rgbClr val="000000"/>
                          </a:solidFill>
                        </a:rPr>
                        <a:t>0.796</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rgbClr val="000000"/>
                          </a:solidFill>
                        </a:rPr>
                        <a:t>4%</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365760">
                <a:tc>
                  <a:txBody>
                    <a:bodyPr/>
                    <a:lstStyle/>
                    <a:p>
                      <a:pPr indent="0" marL="0">
                        <a:buNone/>
                      </a:pPr>
                      <a:r>
                        <a:rPr lang="en-US" sz="1200" dirty="0">
                          <a:solidFill>
                            <a:schemeClr val="tx2"/>
                          </a:solidFill>
                        </a:rPr>
                        <a:t>Content only</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rgbClr val="000000"/>
                          </a:solidFill>
                        </a:rPr>
                        <a:t>0.012</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rgbClr val="000000"/>
                          </a:solidFill>
                        </a:rPr>
                        <a:t>0.194</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dirty="0">
                          <a:solidFill>
                            <a:srgbClr val="000000"/>
                          </a:solidFill>
                        </a:rPr>
                        <a:t>30%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2"/>
                          </a:solidFill>
                        </a:rPr>
                        <a:t>Hybrid (tuned)</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rgbClr val="000000"/>
                          </a:solidFill>
                        </a:rPr>
                        <a:t>0.096</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rgbClr val="000000"/>
                          </a:solidFill>
                        </a:rPr>
                        <a:t>0.724</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rgbClr val="000000"/>
                          </a:solidFill>
                        </a:rPr>
                        <a:t>13%</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2"/>
                          </a:solidFill>
                        </a:rPr>
                        <a:t>Hybrid (tuned) + MMR</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rgbClr val="000000"/>
                          </a:solidFill>
                        </a:rPr>
                        <a:t>0.087</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rgbClr val="000000"/>
                          </a:solidFill>
                        </a:rPr>
                        <a:t>0.827</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algn="ctr" indent="0" marL="0">
                        <a:buNone/>
                      </a:pPr>
                      <a:r>
                        <a:rPr lang="en-US" sz="1200" b="1" dirty="0">
                          <a:solidFill>
                            <a:srgbClr val="000000"/>
                          </a:solidFill>
                        </a:rPr>
                        <a:t>13%</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bl>
          </a:graphicData>
        </a:graphic>
      </p:graphicFrame>
      <p:sp>
        <p:nvSpPr>
          <p:cNvPr id="4" name="Callout card"/>
          <p:cNvSpPr/>
          <p:nvPr/>
        </p:nvSpPr>
        <p:spPr>
          <a:xfrm>
            <a:off x="457200" y="3291840"/>
            <a:ext cx="4023360" cy="1234440"/>
          </a:xfrm>
          <a:prstGeom prst="roundRect">
            <a:avLst>
              <a:gd name="adj" fmla="val 5926"/>
            </a:avLst>
          </a:prstGeom>
          <a:solidFill>
            <a:schemeClr val="bg2"/>
          </a:solidFill>
          <a:ln/>
        </p:spPr>
      </p:sp>
      <p:sp>
        <p:nvSpPr>
          <p:cNvPr id="5" name="Text 2"/>
          <p:cNvSpPr txBox="1"/>
          <p:nvPr/>
        </p:nvSpPr>
        <p:spPr>
          <a:xfrm>
            <a:off x="640080" y="3364992"/>
            <a:ext cx="3657600" cy="6172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+0.10 diversity</a:t>
            </a:r>
            <a:endParaRPr lang="en-US" sz="2800" dirty="0"/>
          </a:p>
        </p:txBody>
      </p:sp>
      <p:sp>
        <p:nvSpPr>
          <p:cNvPr id="6" name="Text 3"/>
          <p:cNvSpPr txBox="1"/>
          <p:nvPr/>
        </p:nvSpPr>
        <p:spPr>
          <a:xfrm>
            <a:off x="640080" y="3970782"/>
            <a:ext cx="3657600" cy="493776"/>
          </a:xfrm>
          <a:prstGeom prst="rect">
            <a:avLst/>
          </a:prstGeom>
          <a:noFill/>
          <a:ln/>
        </p:spPr>
        <p:txBody>
          <a:bodyPr wrap="square" lIns="0" tIns="0" rIns="0" bIns="0" rtlCol="0" anchor="t"/>
          <a:lstStyle/>
          <a:p>
            <a:pPr indent="0" marL="0">
              <a:buNone/>
            </a:pPr>
            <a:r>
              <a:rPr lang="en-US" sz="1200" dirty="0">
                <a:solidFill>
                  <a:schemeClr val="tx1"/>
                </a:solidFill>
              </a:rPr>
              <a:t>MMR costs 9% of NDCG@10 (p = 0.001). The dial lets the user choose that trade.</a:t>
            </a:r>
            <a:endParaRPr lang="en-US" sz="1200" dirty="0"/>
          </a:p>
        </p:txBody>
      </p:sp>
      <p:sp>
        <p:nvSpPr>
          <p:cNvPr id="7" name="Callout card"/>
          <p:cNvSpPr/>
          <p:nvPr/>
        </p:nvSpPr>
        <p:spPr>
          <a:xfrm>
            <a:off x="4663440" y="3291840"/>
            <a:ext cx="4023360" cy="1234440"/>
          </a:xfrm>
          <a:prstGeom prst="roundRect">
            <a:avLst>
              <a:gd name="adj" fmla="val 5926"/>
            </a:avLst>
          </a:prstGeom>
          <a:solidFill>
            <a:schemeClr val="bg2"/>
          </a:solidFill>
          <a:ln/>
        </p:spPr>
      </p:sp>
      <p:sp>
        <p:nvSpPr>
          <p:cNvPr id="8" name="Text 5"/>
          <p:cNvSpPr txBox="1"/>
          <p:nvPr/>
        </p:nvSpPr>
        <p:spPr>
          <a:xfrm>
            <a:off x="4846320" y="3364992"/>
            <a:ext cx="3657600" cy="6172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13% coverage</a:t>
            </a:r>
            <a:endParaRPr lang="en-US" sz="2800" dirty="0"/>
          </a:p>
        </p:txBody>
      </p:sp>
      <p:sp>
        <p:nvSpPr>
          <p:cNvPr id="9" name="Text 6"/>
          <p:cNvSpPr txBox="1"/>
          <p:nvPr/>
        </p:nvSpPr>
        <p:spPr>
          <a:xfrm>
            <a:off x="4846320" y="3970782"/>
            <a:ext cx="3657600" cy="493776"/>
          </a:xfrm>
          <a:prstGeom prst="rect">
            <a:avLst/>
          </a:prstGeom>
          <a:noFill/>
          <a:ln/>
        </p:spPr>
        <p:txBody>
          <a:bodyPr wrap="square" lIns="0" tIns="0" rIns="0" bIns="0" rtlCol="0" anchor="t"/>
          <a:lstStyle/>
          <a:p>
            <a:pPr indent="0" marL="0">
              <a:buNone/>
            </a:pPr>
            <a:r>
              <a:rPr lang="en-US" sz="1200" dirty="0">
                <a:solidFill>
                  <a:schemeClr val="tx1"/>
                </a:solidFill>
              </a:rPr>
              <a:t>Below the 20% target in our spec. Collaborative scores concentrate on well-rated films, which probably explains it.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Live example: five sci-fi favourites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669280" cy="914400"/>
        </p:xfrm>
        <a:graphic>
          <a:graphicData uri="http://schemas.openxmlformats.org/drawingml/2006/table">
            <a:tbl>
              <a:tblPr/>
              <a:tblGrid>
                <a:gridCol w="2468880"/>
                <a:gridCol w="3200400"/>
              </a:tblGrid>
              <a:tr h="320040">
                <a:tc>
                  <a:txBody>
                    <a:bodyPr/>
                    <a:lstStyle/>
                    <a:p>
                      <a:pPr indent="0" marL="0">
                        <a:buNone/>
                      </a:pPr>
                      <a:r>
                        <a:rPr lang="en-US" sz="1200" b="1" dirty="0">
                          <a:solidFill>
                            <a:schemeClr val="bg1"/>
                          </a:solidFill>
                        </a:rPr>
                        <a:t>Comfort zone picks</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Reason shown on the card</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tx2"/>
                    </a:solidFill>
                  </a:tcPr>
                </a:tc>
              </a:tr>
              <a:tr h="530352">
                <a:tc>
                  <a:txBody>
                    <a:bodyPr/>
                    <a:lstStyle/>
                    <a:p>
                      <a:pPr indent="0" marL="0">
                        <a:buNone/>
                      </a:pPr>
                      <a:r>
                        <a:rPr lang="en-US" sz="1200" b="1" dirty="0">
                          <a:solidFill>
                            <a:schemeClr val="tx2"/>
                          </a:solidFill>
                        </a:rPr>
                        <a:t>Star Wars: Episode V - The Empire Strikes Back (1980)</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Popular with people who liked Matrix, The (1999). Rated 4.2/5 by 234 viewers.</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chemeClr val="tx2"/>
                          </a:solidFill>
                        </a:rPr>
                        <a:t>Star Wars: Episode IV - A New Hope (1977)</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Popular with people who liked Matrix, The (1999). Rated 4.2/5 by 291 viewers.</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chemeClr val="tx2"/>
                          </a:solidFill>
                        </a:rPr>
                        <a:t>Usual Suspects, The (1995)</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Popular with people who liked Blade Runner (1982). Rated 4.4/5 by 201 viewers.</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chemeClr val="tx2"/>
                          </a:solidFill>
                        </a:rPr>
                        <a:t>Alien (1979)</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Popular with people who liked Terminator, The (1984). Rated 4.0/5 by 127 viewers.</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chemeClr val="tx2"/>
                          </a:solidFill>
                        </a:rPr>
                        <a:t>Pulp Fiction (1994)</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Popular with people who liked Blade Runner (1982). Rated 4.3/5 by 324 viewers.</a:t>
                      </a:r>
                      <a:endParaRPr lang="en-US" sz="1200" dirty="0"/>
                    </a:p>
                  </a:txBody>
                  <a:tcPr marL="73152" marR="73152" marT="0" marB="0" anchor="ctr">
                    <a:lnL w="6350" cap="flat" cmpd="sng" algn="ctr">
                      <a:solidFill>
                        <a:srgbClr val="F0EEF4"/>
                      </a:solidFill>
                      <a:prstDash val="solid"/>
                      <a:round/>
                      <a:headEnd type="none" w="med" len="med"/>
                      <a:tailEnd type="none" w="med" len="med"/>
                    </a:lnL>
                    <a:lnR w="6350" cap="flat" cmpd="sng" algn="ctr">
                      <a:solidFill>
                        <a:srgbClr val="F0EEF4"/>
                      </a:solidFill>
                      <a:prstDash val="solid"/>
                      <a:round/>
                      <a:headEnd type="none" w="med" len="med"/>
                      <a:tailEnd type="none" w="med" len="med"/>
                    </a:lnR>
                    <a:lnT w="6350" cap="flat" cmpd="sng" algn="ctr">
                      <a:solidFill>
                        <a:srgbClr val="F0EEF4"/>
                      </a:solidFill>
                      <a:prstDash val="solid"/>
                      <a:round/>
                      <a:headEnd type="none" w="med" len="med"/>
                      <a:tailEnd type="none" w="med" len="med"/>
                    </a:lnT>
                    <a:lnB w="6350" cap="flat" cmpd="sng" algn="ctr">
                      <a:solidFill>
                        <a:srgbClr val="F0EEF4"/>
                      </a:solidFill>
                      <a:prstDash val="solid"/>
                      <a:round/>
                      <a:headEnd type="none" w="med" len="med"/>
                      <a:tailEnd type="none" w="med" len="med"/>
                    </a:lnB>
                    <a:solidFill>
                      <a:schemeClr val="bg1"/>
                    </a:solidFill>
                  </a:tcPr>
                </a:tc>
              </a:tr>
            </a:tbl>
          </a:graphicData>
        </a:graphic>
      </p:graphicFrame>
      <p:sp>
        <p:nvSpPr>
          <p:cNvPr id="4" name="Surprise card"/>
          <p:cNvSpPr/>
          <p:nvPr/>
        </p:nvSpPr>
        <p:spPr>
          <a:xfrm>
            <a:off x="6355080" y="1188720"/>
            <a:ext cx="2331720" cy="3063240"/>
          </a:xfrm>
          <a:prstGeom prst="roundRect">
            <a:avLst>
              <a:gd name="adj" fmla="val 3137"/>
            </a:avLst>
          </a:prstGeom>
          <a:solidFill>
            <a:schemeClr val="bg2"/>
          </a:solidFill>
          <a:ln/>
        </p:spPr>
      </p:sp>
      <p:sp>
        <p:nvSpPr>
          <p:cNvPr id="5" name="Text 2"/>
          <p:cNvSpPr txBox="1"/>
          <p:nvPr/>
        </p:nvSpPr>
        <p:spPr>
          <a:xfrm>
            <a:off x="6492240" y="1280160"/>
            <a:ext cx="2057400" cy="502920"/>
          </a:xfrm>
          <a:prstGeom prst="rect">
            <a:avLst/>
          </a:prstGeom>
          <a:noFill/>
          <a:ln/>
        </p:spPr>
        <p:txBody>
          <a:bodyPr wrap="square" lIns="0" tIns="0" rIns="0" bIns="0" rtlCol="0" anchor="t"/>
          <a:lstStyle/>
          <a:p>
            <a:pPr indent="0" marL="0">
              <a:buNone/>
            </a:pPr>
            <a:r>
              <a:rPr lang="en-US" sz="1400" b="1" dirty="0">
                <a:solidFill>
                  <a:schemeClr val="accent1"/>
                </a:solidFill>
              </a:rPr>
              <a:t>Same user, Surprise me</a:t>
            </a:r>
            <a:endParaRPr lang="en-US" sz="1400" dirty="0"/>
          </a:p>
        </p:txBody>
      </p:sp>
      <p:sp>
        <p:nvSpPr>
          <p:cNvPr id="6" name="Text 3"/>
          <p:cNvSpPr txBox="1"/>
          <p:nvPr/>
        </p:nvSpPr>
        <p:spPr>
          <a:xfrm>
            <a:off x="6492240" y="1783080"/>
            <a:ext cx="2057400" cy="274320"/>
          </a:xfrm>
          <a:prstGeom prst="rect">
            <a:avLst/>
          </a:prstGeom>
          <a:noFill/>
          <a:ln/>
        </p:spPr>
        <p:txBody>
          <a:bodyPr wrap="square" lIns="0" tIns="0" rIns="0" bIns="0" rtlCol="0" anchor="ctr"/>
          <a:lstStyle/>
          <a:p>
            <a:pPr indent="0" marL="0">
              <a:buNone/>
            </a:pPr>
            <a:r>
              <a:rPr lang="en-US" sz="1200" dirty="0">
                <a:solidFill>
                  <a:schemeClr val="tx1"/>
                </a:solidFill>
              </a:rPr>
              <a:t>Keeps 3 of 5 and swaps in:</a:t>
            </a:r>
            <a:endParaRPr lang="en-US" sz="1200" dirty="0"/>
          </a:p>
        </p:txBody>
      </p:sp>
      <p:sp>
        <p:nvSpPr>
          <p:cNvPr id="7" name="Text 4"/>
          <p:cNvSpPr txBox="1"/>
          <p:nvPr/>
        </p:nvSpPr>
        <p:spPr>
          <a:xfrm>
            <a:off x="6492240" y="2103120"/>
            <a:ext cx="2057400" cy="2011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Schindler's List (1993)</a:t>
            </a:r>
            <a:endParaRPr lang="en-US" sz="1200" dirty="0"/>
          </a:p>
          <a:p>
            <a:pPr marL="342900" indent="-342900">
              <a:spcAft>
                <a:spcPts val="600"/>
              </a:spcAft>
              <a:buSzPct val="100000"/>
              <a:buChar char="•"/>
            </a:pPr>
            <a:r>
              <a:rPr lang="en-US" sz="1200" dirty="0">
                <a:solidFill>
                  <a:schemeClr val="tx2"/>
                </a:solidFill>
              </a:rPr>
              <a:t>Shawshank Redemption, The (1994)</a:t>
            </a:r>
            <a:endParaRPr lang="en-US" sz="1200" dirty="0"/>
          </a:p>
        </p:txBody>
      </p:sp>
      <p:sp>
        <p:nvSpPr>
          <p:cNvPr id="8" name="Text 5"/>
          <p:cNvSpPr txBox="1"/>
          <p:nvPr/>
        </p:nvSpPr>
        <p:spPr>
          <a:xfrm>
            <a:off x="6492240" y="3703320"/>
            <a:ext cx="2057400" cy="457200"/>
          </a:xfrm>
          <a:prstGeom prst="rect">
            <a:avLst/>
          </a:prstGeom>
          <a:noFill/>
          <a:ln/>
        </p:spPr>
        <p:txBody>
          <a:bodyPr wrap="square" lIns="0" tIns="0" rIns="0" bIns="0" rtlCol="0" anchor="b"/>
          <a:lstStyle/>
          <a:p>
            <a:pPr indent="0" marL="0">
              <a:buNone/>
            </a:pPr>
            <a:r>
              <a:rPr lang="en-US" sz="1200" i="1" dirty="0">
                <a:solidFill>
                  <a:schemeClr val="accent5"/>
                </a:solidFill>
              </a:rPr>
              <a:t>Same five favourites. Only the dial changed.</a:t>
            </a:r>
            <a:endParaRPr lang="en-US" sz="1200" dirty="0"/>
          </a:p>
        </p:txBody>
      </p:sp>
      <p:sp>
        <p:nvSpPr>
          <p:cNvPr id="9" name="Text 6"/>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200" b="1" dirty="0">
                <a:solidFill>
                  <a:schemeClr val="accent5"/>
                </a:solidFill>
              </a:rPr>
              <a:t>Live: </a:t>
            </a:r>
            <a:pPr indent="0" marL="0">
              <a:buNone/>
            </a:pPr>
            <a:r>
              <a:rPr lang="en-US" sz="1200" dirty="0">
                <a:solidFill>
                  <a:schemeClr val="accent5"/>
                </a:solidFill>
              </a:rPr>
              <a:t>sahil-u07-hybrid-movie-recommender-app-dqy8sx.streamlit.app</a:t>
            </a:r>
            <a:pPr indent="0" marL="0">
              <a:buNone/>
            </a:pPr>
            <a:r>
              <a:rPr lang="en-US" sz="1200" dirty="0">
                <a:solidFill>
                  <a:schemeClr val="accent5"/>
                </a:solidFill>
              </a:rPr>
              <a:t>   ·   Click Like or Not for me and the row re-ranks at once.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Limits and next steps</a:t>
            </a:r>
            <a:endParaRPr lang="en-US" sz="3200" dirty="0"/>
          </a:p>
        </p:txBody>
      </p:sp>
      <p:sp>
        <p:nvSpPr>
          <p:cNvPr id="3" name="Limits"/>
          <p:cNvSpPr/>
          <p:nvPr/>
        </p:nvSpPr>
        <p:spPr>
          <a:xfrm>
            <a:off x="457200" y="1188720"/>
            <a:ext cx="3977640" cy="3383280"/>
          </a:xfrm>
          <a:prstGeom prst="roundRect">
            <a:avLst>
              <a:gd name="adj" fmla="val 2162"/>
            </a:avLst>
          </a:prstGeom>
          <a:solidFill>
            <a:schemeClr val="bg2"/>
          </a:solidFill>
          <a:ln/>
        </p:spPr>
      </p:sp>
      <p:sp>
        <p:nvSpPr>
          <p:cNvPr id="4" name="Text 2"/>
          <p:cNvSpPr txBox="1"/>
          <p:nvPr/>
        </p:nvSpPr>
        <p:spPr>
          <a:xfrm>
            <a:off x="640080" y="1280160"/>
            <a:ext cx="3611880" cy="365760"/>
          </a:xfrm>
          <a:prstGeom prst="rect">
            <a:avLst/>
          </a:prstGeom>
          <a:noFill/>
          <a:ln/>
        </p:spPr>
        <p:txBody>
          <a:bodyPr wrap="square" lIns="0" tIns="0" rIns="0" bIns="0" rtlCol="0" anchor="ctr"/>
          <a:lstStyle/>
          <a:p>
            <a:pPr indent="0" marL="0">
              <a:buNone/>
            </a:pPr>
            <a:r>
              <a:rPr lang="en-US" sz="1800" b="1" dirty="0">
                <a:solidFill>
                  <a:schemeClr val="accent1"/>
                </a:solidFill>
              </a:rPr>
              <a:t>Limits</a:t>
            </a:r>
            <a:endParaRPr lang="en-US" sz="1800" dirty="0"/>
          </a:p>
        </p:txBody>
      </p:sp>
      <p:sp>
        <p:nvSpPr>
          <p:cNvPr id="5" name="Text 3"/>
          <p:cNvSpPr txBox="1"/>
          <p:nvPr/>
        </p:nvSpPr>
        <p:spPr>
          <a:xfrm>
            <a:off x="640080" y="1737360"/>
            <a:ext cx="36118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Catalog coverage is 13%, below our 20% target</a:t>
            </a:r>
            <a:endParaRPr lang="en-US" sz="1400" dirty="0"/>
          </a:p>
          <a:p>
            <a:pPr marL="342900" indent="-342900">
              <a:spcAft>
                <a:spcPts val="800"/>
              </a:spcAft>
              <a:buSzPct val="100000"/>
              <a:buChar char="•"/>
            </a:pPr>
            <a:r>
              <a:rPr lang="en-US" sz="1400" dirty="0">
                <a:solidFill>
                  <a:schemeClr val="tx1"/>
                </a:solidFill>
              </a:rPr>
              <a:t>On accuracy the hybrid ties collaborative only; the clear win is over popularity and content</a:t>
            </a:r>
            <a:endParaRPr lang="en-US" sz="1400" dirty="0"/>
          </a:p>
          <a:p>
            <a:pPr marL="342900" indent="-342900">
              <a:spcAft>
                <a:spcPts val="800"/>
              </a:spcAft>
              <a:buSzPct val="100000"/>
              <a:buChar char="•"/>
            </a:pPr>
            <a:r>
              <a:rPr lang="en-US" sz="1400" dirty="0">
                <a:solidFill>
                  <a:schemeClr val="tx1"/>
                </a:solidFill>
              </a:rPr>
              <a:t>Small, older MovieLens release; weights tuned on one split</a:t>
            </a:r>
            <a:endParaRPr lang="en-US" sz="1400" dirty="0"/>
          </a:p>
          <a:p>
            <a:pPr marL="342900" indent="-342900">
              <a:spcAft>
                <a:spcPts val="800"/>
              </a:spcAft>
              <a:buSzPct val="100000"/>
              <a:buChar char="•"/>
            </a:pPr>
            <a:r>
              <a:rPr lang="en-US" sz="1400" dirty="0">
                <a:solidFill>
                  <a:schemeClr val="tx1"/>
                </a:solidFill>
              </a:rPr>
              <a:t>No runtime or language filters, because the data has neither</a:t>
            </a:r>
            <a:endParaRPr lang="en-US" sz="1400" dirty="0"/>
          </a:p>
        </p:txBody>
      </p:sp>
      <p:sp>
        <p:nvSpPr>
          <p:cNvPr id="6" name="Next steps"/>
          <p:cNvSpPr/>
          <p:nvPr/>
        </p:nvSpPr>
        <p:spPr>
          <a:xfrm>
            <a:off x="4709160" y="1188720"/>
            <a:ext cx="3977640" cy="3383280"/>
          </a:xfrm>
          <a:prstGeom prst="roundRect">
            <a:avLst>
              <a:gd name="adj" fmla="val 2162"/>
            </a:avLst>
          </a:prstGeom>
          <a:solidFill>
            <a:schemeClr val="bg2"/>
          </a:solidFill>
          <a:ln/>
        </p:spPr>
      </p:sp>
      <p:sp>
        <p:nvSpPr>
          <p:cNvPr id="7" name="Text 5"/>
          <p:cNvSpPr txBox="1"/>
          <p:nvPr/>
        </p:nvSpPr>
        <p:spPr>
          <a:xfrm>
            <a:off x="4892040" y="1280160"/>
            <a:ext cx="3611880" cy="365760"/>
          </a:xfrm>
          <a:prstGeom prst="rect">
            <a:avLst/>
          </a:prstGeom>
          <a:noFill/>
          <a:ln/>
        </p:spPr>
        <p:txBody>
          <a:bodyPr wrap="square" lIns="0" tIns="0" rIns="0" bIns="0" rtlCol="0" anchor="ctr"/>
          <a:lstStyle/>
          <a:p>
            <a:pPr indent="0" marL="0">
              <a:buNone/>
            </a:pPr>
            <a:r>
              <a:rPr lang="en-US" sz="1800" b="1" dirty="0">
                <a:solidFill>
                  <a:schemeClr val="accent4"/>
                </a:solidFill>
              </a:rPr>
              <a:t>Next steps</a:t>
            </a:r>
            <a:endParaRPr lang="en-US" sz="1800" dirty="0"/>
          </a:p>
        </p:txBody>
      </p:sp>
      <p:sp>
        <p:nvSpPr>
          <p:cNvPr id="8" name="Text 6"/>
          <p:cNvSpPr txBox="1"/>
          <p:nvPr/>
        </p:nvSpPr>
        <p:spPr>
          <a:xfrm>
            <a:off x="4892040" y="1737360"/>
            <a:ext cx="36118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Full stack from the spec: Next.js, FastAPI and Postgres</a:t>
            </a:r>
            <a:endParaRPr lang="en-US" sz="1400" dirty="0"/>
          </a:p>
          <a:p>
            <a:pPr marL="342900" indent="-342900">
              <a:spcAft>
                <a:spcPts val="800"/>
              </a:spcAft>
              <a:buSzPct val="100000"/>
              <a:buChar char="•"/>
            </a:pPr>
            <a:r>
              <a:rPr lang="en-US" sz="1400" dirty="0">
                <a:solidFill>
                  <a:schemeClr val="tx1"/>
                </a:solidFill>
              </a:rPr>
              <a:t>Train on MovieLens 25M and add a franchise cap</a:t>
            </a:r>
            <a:endParaRPr lang="en-US" sz="1400" dirty="0"/>
          </a:p>
          <a:p>
            <a:pPr marL="342900" indent="-342900">
              <a:spcAft>
                <a:spcPts val="800"/>
              </a:spcAft>
              <a:buSzPct val="100000"/>
              <a:buChar char="•"/>
            </a:pPr>
            <a:r>
              <a:rPr lang="en-US" sz="1400" dirty="0">
                <a:solidFill>
                  <a:schemeClr val="tx1"/>
                </a:solidFill>
              </a:rPr>
              <a:t>Group movie night and free-text requests</a:t>
            </a:r>
            <a:endParaRPr lang="en-US" sz="1400" dirty="0"/>
          </a:p>
          <a:p>
            <a:pPr marL="342900" indent="-342900">
              <a:spcAft>
                <a:spcPts val="800"/>
              </a:spcAft>
              <a:buSzPct val="100000"/>
              <a:buChar char="•"/>
            </a:pPr>
            <a:r>
              <a:rPr lang="en-US" sz="1400" dirty="0">
                <a:solidFill>
                  <a:schemeClr val="tx1"/>
                </a:solidFill>
              </a:rPr>
              <a:t>Track pick rate and negative feedback with real users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oster motif"/>
          <p:cNvSpPr/>
          <p:nvPr/>
        </p:nvSpPr>
        <p:spPr>
          <a:xfrm rot="-300000">
            <a:off x="7040880" y="1188720"/>
            <a:ext cx="1234440" cy="1856232"/>
          </a:xfrm>
          <a:prstGeom prst="roundRect">
            <a:avLst>
              <a:gd name="adj" fmla="val 7407"/>
            </a:avLst>
          </a:prstGeom>
          <a:solidFill>
            <a:schemeClr val="accent1"/>
          </a:solidFill>
          <a:ln/>
        </p:spPr>
      </p:sp>
      <p:sp>
        <p:nvSpPr>
          <p:cNvPr id="3" name="Text 1"/>
          <p:cNvSpPr txBox="1"/>
          <p:nvPr/>
        </p:nvSpPr>
        <p:spPr>
          <a:xfrm>
            <a:off x="548640" y="1554480"/>
            <a:ext cx="5486400" cy="9144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Questions</a:t>
            </a:r>
            <a:endParaRPr lang="en-US" sz="4400" dirty="0"/>
          </a:p>
        </p:txBody>
      </p:sp>
      <p:sp>
        <p:nvSpPr>
          <p:cNvPr id="4" name="Text 2"/>
          <p:cNvSpPr txBox="1"/>
          <p:nvPr/>
        </p:nvSpPr>
        <p:spPr>
          <a:xfrm>
            <a:off x="548640" y="2514600"/>
            <a:ext cx="5486400" cy="685800"/>
          </a:xfrm>
          <a:prstGeom prst="rect">
            <a:avLst/>
          </a:prstGeom>
          <a:noFill/>
          <a:ln/>
        </p:spPr>
        <p:txBody>
          <a:bodyPr wrap="square" lIns="0" tIns="0" rIns="0" bIns="0" rtlCol="0" anchor="t"/>
          <a:lstStyle/>
          <a:p>
            <a:pPr indent="0" marL="0">
              <a:spcAft>
                <a:spcPts val="200"/>
              </a:spcAft>
              <a:buNone/>
            </a:pPr>
            <a:r>
              <a:rPr lang="en-US" sz="1700" b="1" dirty="0">
                <a:solidFill>
                  <a:schemeClr val="accent2"/>
                </a:solidFill>
              </a:rPr>
              <a:t>Sahil Lenka  ·  2427010391</a:t>
            </a:r>
            <a:endParaRPr lang="en-US" sz="1700" dirty="0"/>
          </a:p>
          <a:p>
            <a:pPr indent="0" marL="0">
              <a:spcAft>
                <a:spcPts val="200"/>
              </a:spcAft>
              <a:buNone/>
            </a:pPr>
            <a:r>
              <a:rPr lang="en-US" sz="1700" b="1" dirty="0">
                <a:solidFill>
                  <a:schemeClr val="accent2"/>
                </a:solidFill>
              </a:rPr>
              <a:t>Kanishk Shukla  ·  2427010432</a:t>
            </a:r>
            <a:endParaRPr lang="en-US" sz="1700" dirty="0"/>
          </a:p>
        </p:txBody>
      </p:sp>
      <p:sp>
        <p:nvSpPr>
          <p:cNvPr id="5" name="Text 3"/>
          <p:cNvSpPr txBox="1"/>
          <p:nvPr/>
        </p:nvSpPr>
        <p:spPr>
          <a:xfrm>
            <a:off x="548640" y="3154680"/>
            <a:ext cx="6583680" cy="822960"/>
          </a:xfrm>
          <a:prstGeom prst="rect">
            <a:avLst/>
          </a:prstGeom>
          <a:noFill/>
          <a:ln/>
        </p:spPr>
        <p:txBody>
          <a:bodyPr wrap="square" lIns="0" tIns="0" rIns="0" bIns="0" rtlCol="0" anchor="t"/>
          <a:lstStyle/>
          <a:p>
            <a:pPr indent="0" marL="0">
              <a:spcAft>
                <a:spcPts val="400"/>
              </a:spcAft>
              <a:buNone/>
            </a:pPr>
            <a:r>
              <a:rPr lang="en-US" sz="1400" b="1" dirty="0">
                <a:solidFill>
                  <a:schemeClr val="accent6"/>
                </a:solidFill>
              </a:rPr>
              <a:t>Live app:  </a:t>
            </a:r>
            <a:pPr indent="0" marL="0">
              <a:spcAft>
                <a:spcPts val="400"/>
              </a:spcAft>
              <a:buNone/>
            </a:pPr>
            <a:r>
              <a:rPr lang="en-US" sz="1400" dirty="0">
                <a:solidFill>
                  <a:schemeClr val="accent6"/>
                </a:solidFill>
              </a:rPr>
              <a:t>sahil-u07-hybrid-movie-recommender-app-dqy8sx.streamlit.app</a:t>
            </a:r>
            <a:endParaRPr lang="en-US" sz="1400" dirty="0"/>
          </a:p>
          <a:p>
            <a:pPr indent="0" marL="0">
              <a:spcAft>
                <a:spcPts val="400"/>
              </a:spcAft>
              <a:buNone/>
            </a:pPr>
            <a:r>
              <a:rPr lang="en-US" sz="1400" b="1" dirty="0">
                <a:solidFill>
                  <a:schemeClr val="accent6"/>
                </a:solidFill>
              </a:rPr>
              <a:t>Code:  </a:t>
            </a:r>
            <a:pPr indent="0" marL="0">
              <a:spcAft>
                <a:spcPts val="400"/>
              </a:spcAft>
              <a:buNone/>
            </a:pPr>
            <a:r>
              <a:rPr lang="en-US" sz="1400" dirty="0">
                <a:solidFill>
                  <a:schemeClr val="accent6"/>
                </a:solidFill>
              </a:rPr>
              <a:t>github.com/Sahil-u07/hybrid-movie-recommender</a:t>
            </a:r>
            <a:endParaRPr lang="en-US" sz="1400" dirty="0"/>
          </a:p>
        </p:txBody>
      </p:sp>
    </p:spTree>
  </p:cSld>
  <p:clrMapOvr>
    <a:masterClrMapping/>
  </p:clrMapOvr>
</p:sld>
</file>

<file path=ppt/theme/theme1.xml><?xml version="1.0" encoding="utf-8"?>
<a:theme xmlns:a="http://schemas.openxmlformats.org/drawingml/2006/main" name="Recsys Night">
  <a:themeElements>
    <a:clrScheme name="Recsys Night">
      <a:dk1>
        <a:srgbClr val="1B1A24"/>
      </a:dk1>
      <a:lt1>
        <a:srgbClr val="FFFFFF"/>
      </a:lt1>
      <a:dk2>
        <a:srgbClr val="23212F"/>
      </a:dk2>
      <a:lt2>
        <a:srgbClr val="F0EEF4"/>
      </a:lt2>
      <a:accent1>
        <a:srgbClr val="8E2C48"/>
      </a:accent1>
      <a:accent2>
        <a:srgbClr val="F2B33D"/>
      </a:accent2>
      <a:accent3>
        <a:srgbClr val="4F6D8F"/>
      </a:accent3>
      <a:accent4>
        <a:srgbClr val="2E8B84"/>
      </a:accent4>
      <a:accent5>
        <a:srgbClr val="8A8798"/>
      </a:accent5>
      <a:accent6>
        <a:srgbClr val="D9A5B5"/>
      </a:accent6>
      <a:hlink>
        <a:srgbClr val="3A7CA5"/>
      </a:hlink>
      <a:folHlink>
        <a:srgbClr val="6D5C8F"/>
      </a:folHlink>
    </a:clrScheme>
    <a:fontScheme name="Recsys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Movie Recommender</dc:title>
  <dc:subject>PptxGenJS Presentation</dc:subject>
  <dc:creator>Sahil Lenka (2427010391), Kanishk Shukla (2427010432)</dc:creator>
  <cp:lastModifiedBy>Sahil Lenka (2427010391), Kanishk Shukla (2427010432)</cp:lastModifiedBy>
  <cp:revision>1</cp:revision>
  <dcterms:created xsi:type="dcterms:W3CDTF">2026-10-30T14:07:51Z</dcterms:created>
  <dcterms:modified xsi:type="dcterms:W3CDTF">2026-10-30T14:07:51Z</dcterms:modified>
</cp:coreProperties>
</file>